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sldIdLst>
    <p:sldId id="530" r:id="rId5"/>
    <p:sldId id="531" r:id="rId6"/>
    <p:sldId id="533" r:id="rId7"/>
    <p:sldId id="534" r:id="rId8"/>
    <p:sldId id="535" r:id="rId9"/>
    <p:sldId id="536" r:id="rId10"/>
    <p:sldId id="537" r:id="rId11"/>
    <p:sldId id="546" r:id="rId12"/>
    <p:sldId id="547" r:id="rId13"/>
    <p:sldId id="548" r:id="rId14"/>
    <p:sldId id="549" r:id="rId15"/>
    <p:sldId id="550" r:id="rId16"/>
    <p:sldId id="551" r:id="rId17"/>
    <p:sldId id="552" r:id="rId18"/>
    <p:sldId id="553" r:id="rId19"/>
    <p:sldId id="554" r:id="rId20"/>
    <p:sldId id="555" r:id="rId21"/>
    <p:sldId id="556" r:id="rId22"/>
    <p:sldId id="54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2EE"/>
    <a:srgbClr val="F01688"/>
    <a:srgbClr val="2F21F3"/>
    <a:srgbClr val="FEB52B"/>
    <a:srgbClr val="F01689"/>
    <a:srgbClr val="6F22E3"/>
    <a:srgbClr val="E218A3"/>
    <a:srgbClr val="BA20DB"/>
    <a:srgbClr val="6A23F1"/>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422"/>
  </p:normalViewPr>
  <p:slideViewPr>
    <p:cSldViewPr snapToGrid="0">
      <p:cViewPr varScale="1">
        <p:scale>
          <a:sx n="65" d="100"/>
          <a:sy n="65" d="100"/>
        </p:scale>
        <p:origin x="10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6/17/2025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1">
            <a:lum/>
            <a:extLst>
              <a:ext uri="{BEBA8EAE-BF5A-486C-A8C5-ECC9F3942E4B}">
                <a14:imgProps xmlns:a14="http://schemas.microsoft.com/office/drawing/2010/main">
                  <a14:imgLayer r:embed="rId22">
                    <a14:imgEffect>
                      <a14:sharpenSoften amount="-31000"/>
                    </a14:imgEffect>
                    <a14:imgEffect>
                      <a14:brightnessContrast bright="6000" contrast="2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kennethnyangweso/Cellular-Network-Analysis-with-Machine-Learning" TargetMode="Externa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p:txBody>
          <a:bodyPr/>
          <a:lstStyle/>
          <a:p>
            <a:r>
              <a:rPr lang="en-US" dirty="0"/>
              <a:t>CELLULAR NETWORK ANALYSIS WITH MACHINE LEARNING</a:t>
            </a:r>
          </a:p>
        </p:txBody>
      </p:sp>
      <p:sp>
        <p:nvSpPr>
          <p:cNvPr id="3" name="Subtitle 2">
            <a:extLst>
              <a:ext uri="{FF2B5EF4-FFF2-40B4-BE49-F238E27FC236}">
                <a16:creationId xmlns:a16="http://schemas.microsoft.com/office/drawing/2014/main" id="{696329B1-2D04-0F3A-1081-C5117D8CE122}"/>
              </a:ext>
            </a:extLst>
          </p:cNvPr>
          <p:cNvSpPr>
            <a:spLocks noGrp="1"/>
          </p:cNvSpPr>
          <p:nvPr>
            <p:ph type="subTitle" idx="1"/>
          </p:nvPr>
        </p:nvSpPr>
        <p:spPr>
          <a:xfrm>
            <a:off x="2560320" y="4261103"/>
            <a:ext cx="7068312" cy="1089829"/>
          </a:xfrm>
        </p:spPr>
        <p:txBody>
          <a:bodyPr/>
          <a:lstStyle/>
          <a:p>
            <a:r>
              <a:rPr lang="en-US" b="1" dirty="0"/>
              <a:t>Project by:</a:t>
            </a:r>
          </a:p>
          <a:p>
            <a:r>
              <a:rPr lang="en-US" b="1" dirty="0"/>
              <a:t>Kenneth Nyangweso</a:t>
            </a:r>
          </a:p>
          <a:p>
            <a:r>
              <a:rPr lang="en-US" b="1" dirty="0"/>
              <a:t>Graduate Engineer | Data Scientist</a:t>
            </a:r>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157728F-9EA1-A705-8E4D-B7823E4F4C26}"/>
              </a:ext>
            </a:extLst>
          </p:cNvPr>
          <p:cNvSpPr>
            <a:spLocks noGrp="1"/>
          </p:cNvSpPr>
          <p:nvPr>
            <p:ph type="sldNum" sz="quarter" idx="11"/>
          </p:nvPr>
        </p:nvSpPr>
        <p:spPr/>
        <p:txBody>
          <a:bodyPr/>
          <a:lstStyle/>
          <a:p>
            <a:fld id="{294A09A9-5501-47C1-A89A-A340965A2BE2}" type="slidenum">
              <a:rPr lang="en-US" smtClean="0"/>
              <a:pPr/>
              <a:t>2</a:t>
            </a:fld>
            <a:endParaRPr lang="en-US" dirty="0"/>
          </a:p>
        </p:txBody>
      </p:sp>
      <p:sp>
        <p:nvSpPr>
          <p:cNvPr id="4" name="Footer Placeholder 3">
            <a:extLst>
              <a:ext uri="{FF2B5EF4-FFF2-40B4-BE49-F238E27FC236}">
                <a16:creationId xmlns:a16="http://schemas.microsoft.com/office/drawing/2014/main" id="{DDD0AE42-75AF-229C-2692-C10ADA4FFA83}"/>
              </a:ext>
            </a:extLst>
          </p:cNvPr>
          <p:cNvSpPr>
            <a:spLocks noGrp="1"/>
          </p:cNvSpPr>
          <p:nvPr>
            <p:ph type="ftr" sz="quarter" idx="10"/>
          </p:nvPr>
        </p:nvSpPr>
        <p:spPr/>
        <p:txBody>
          <a:bodyPr/>
          <a:lstStyle/>
          <a:p>
            <a:r>
              <a:rPr lang="en-US" dirty="0"/>
              <a:t>2</a:t>
            </a:r>
          </a:p>
        </p:txBody>
      </p:sp>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p:txBody>
          <a:bodyPr>
            <a:normAutofit/>
          </a:bodyPr>
          <a:lstStyle/>
          <a:p>
            <a:r>
              <a:rPr lang="en-US" sz="4000" b="1" spc="600" dirty="0">
                <a:ln w="28575">
                  <a:noFill/>
                  <a:prstDash val="solid"/>
                </a:ln>
                <a:solidFill>
                  <a:schemeClr val="bg1"/>
                </a:solidFill>
                <a:latin typeface="Tw Cen MT" panose="020B0602020104020603" pitchFamily="34" charset="77"/>
              </a:rPr>
              <a:t>CONTENTS</a:t>
            </a:r>
            <a:endParaRPr lang="en-US" dirty="0"/>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a:xfrm>
            <a:off x="1536192" y="2212848"/>
            <a:ext cx="6422136" cy="3977640"/>
          </a:xfrm>
        </p:spPr>
        <p:txBody>
          <a:bodyPr/>
          <a:lstStyle/>
          <a:p>
            <a:pPr marL="342900" indent="-342900" algn="l">
              <a:lnSpc>
                <a:spcPct val="150000"/>
              </a:lnSpc>
              <a:buClr>
                <a:schemeClr val="accent6"/>
              </a:buClr>
              <a:buFont typeface="Courier New" panose="02070309020205020404" pitchFamily="49" charset="0"/>
              <a:buChar char="o"/>
            </a:pPr>
            <a:r>
              <a:rPr lang="en-US" sz="2000" dirty="0">
                <a:latin typeface="Segoe UI Light" panose="020B0502040204020203" pitchFamily="34" charset="0"/>
                <a:cs typeface="Segoe UI Light" panose="020B0502040204020203" pitchFamily="34" charset="0"/>
              </a:rPr>
              <a:t>Business Understanding</a:t>
            </a:r>
            <a:endParaRPr lang="en-US" sz="2000" dirty="0">
              <a:solidFill>
                <a:schemeClr val="bg1"/>
              </a:solidFill>
              <a:latin typeface="Segoe UI Light" panose="020B0502040204020203" pitchFamily="34" charset="0"/>
              <a:cs typeface="Segoe UI Light" panose="020B0502040204020203" pitchFamily="34" charset="0"/>
            </a:endParaRPr>
          </a:p>
          <a:p>
            <a:pPr marL="342900" indent="-342900" algn="l">
              <a:lnSpc>
                <a:spcPct val="150000"/>
              </a:lnSpc>
              <a:buClr>
                <a:schemeClr val="accent6"/>
              </a:buClr>
              <a:buFont typeface="Courier New" panose="02070309020205020404" pitchFamily="49" charset="0"/>
              <a:buChar char="o"/>
            </a:pPr>
            <a:r>
              <a:rPr lang="en-US" sz="2000" dirty="0">
                <a:latin typeface="Segoe UI Light" panose="020B0502040204020203" pitchFamily="34" charset="0"/>
                <a:cs typeface="Segoe UI Light" panose="020B0502040204020203" pitchFamily="34" charset="0"/>
              </a:rPr>
              <a:t>Data Understanding</a:t>
            </a:r>
            <a:endParaRPr lang="en-US" sz="2000" dirty="0">
              <a:solidFill>
                <a:schemeClr val="bg1"/>
              </a:solidFill>
              <a:latin typeface="Segoe UI Light" panose="020B0502040204020203" pitchFamily="34" charset="0"/>
              <a:cs typeface="Segoe UI Light" panose="020B0502040204020203" pitchFamily="34" charset="0"/>
            </a:endParaRPr>
          </a:p>
          <a:p>
            <a:pPr marL="342900" indent="-342900" algn="l">
              <a:lnSpc>
                <a:spcPct val="150000"/>
              </a:lnSpc>
              <a:buClr>
                <a:schemeClr val="accent6"/>
              </a:buClr>
              <a:buFont typeface="Courier New" panose="02070309020205020404" pitchFamily="49" charset="0"/>
              <a:buChar char="o"/>
            </a:pPr>
            <a:r>
              <a:rPr lang="en-US" sz="2000" dirty="0">
                <a:latin typeface="Segoe UI Light" panose="020B0502040204020203" pitchFamily="34" charset="0"/>
                <a:cs typeface="Segoe UI Light" panose="020B0502040204020203" pitchFamily="34" charset="0"/>
              </a:rPr>
              <a:t>Data Analysis</a:t>
            </a:r>
            <a:endParaRPr lang="en-US" sz="2000" dirty="0">
              <a:solidFill>
                <a:schemeClr val="bg1"/>
              </a:solidFill>
              <a:latin typeface="Segoe UI Light" panose="020B0502040204020203" pitchFamily="34" charset="0"/>
              <a:cs typeface="Segoe UI Light" panose="020B0502040204020203" pitchFamily="34" charset="0"/>
            </a:endParaRPr>
          </a:p>
          <a:p>
            <a:pPr marL="342900" indent="-342900" algn="l">
              <a:lnSpc>
                <a:spcPct val="150000"/>
              </a:lnSpc>
              <a:buClr>
                <a:schemeClr val="accent6"/>
              </a:buClr>
              <a:buFont typeface="Courier New" panose="02070309020205020404" pitchFamily="49" charset="0"/>
              <a:buChar char="o"/>
            </a:pPr>
            <a:r>
              <a:rPr lang="en-US" sz="2000" dirty="0">
                <a:latin typeface="Segoe UI Light" panose="020B0502040204020203" pitchFamily="34" charset="0"/>
                <a:cs typeface="Segoe UI Light" panose="020B0502040204020203" pitchFamily="34" charset="0"/>
              </a:rPr>
              <a:t>Modeling</a:t>
            </a:r>
          </a:p>
          <a:p>
            <a:pPr marL="342900" indent="-342900" algn="l">
              <a:lnSpc>
                <a:spcPct val="150000"/>
              </a:lnSpc>
              <a:buClr>
                <a:schemeClr val="accent6"/>
              </a:buClr>
              <a:buFont typeface="Courier New" panose="02070309020205020404" pitchFamily="49" charset="0"/>
              <a:buChar char="o"/>
            </a:pPr>
            <a:r>
              <a:rPr lang="en-US" sz="2000" dirty="0">
                <a:solidFill>
                  <a:schemeClr val="bg1"/>
                </a:solidFill>
                <a:latin typeface="Segoe UI Light" panose="020B0502040204020203" pitchFamily="34" charset="0"/>
                <a:cs typeface="Segoe UI Light" panose="020B0502040204020203" pitchFamily="34" charset="0"/>
              </a:rPr>
              <a:t>Evaluation</a:t>
            </a:r>
          </a:p>
          <a:p>
            <a:pPr marL="342900" indent="-342900" algn="l">
              <a:lnSpc>
                <a:spcPct val="150000"/>
              </a:lnSpc>
              <a:buClr>
                <a:schemeClr val="accent6"/>
              </a:buClr>
              <a:buFont typeface="Courier New" panose="02070309020205020404" pitchFamily="49" charset="0"/>
              <a:buChar char="o"/>
            </a:pPr>
            <a:r>
              <a:rPr lang="en-US" sz="2000" dirty="0">
                <a:latin typeface="Segoe UI Light" panose="020B0502040204020203" pitchFamily="34" charset="0"/>
                <a:cs typeface="Segoe UI Light" panose="020B0502040204020203" pitchFamily="34" charset="0"/>
              </a:rPr>
              <a:t>Conclusion</a:t>
            </a:r>
          </a:p>
          <a:p>
            <a:pPr marL="342900" indent="-342900" algn="l">
              <a:lnSpc>
                <a:spcPct val="150000"/>
              </a:lnSpc>
              <a:buClr>
                <a:schemeClr val="accent6"/>
              </a:buClr>
              <a:buFont typeface="Courier New" panose="02070309020205020404" pitchFamily="49" charset="0"/>
              <a:buChar char="o"/>
            </a:pPr>
            <a:r>
              <a:rPr lang="en-US" sz="2000" dirty="0">
                <a:solidFill>
                  <a:schemeClr val="bg1"/>
                </a:solidFill>
                <a:latin typeface="Segoe UI Light" panose="020B0502040204020203" pitchFamily="34" charset="0"/>
                <a:cs typeface="Segoe UI Light" panose="020B0502040204020203" pitchFamily="34" charset="0"/>
              </a:rPr>
              <a:t>Recommendation</a:t>
            </a:r>
          </a:p>
          <a:p>
            <a:pPr marL="0" indent="0" algn="l">
              <a:lnSpc>
                <a:spcPct val="150000"/>
              </a:lnSpc>
              <a:buClr>
                <a:schemeClr val="accent6"/>
              </a:buClr>
              <a:buNone/>
            </a:pPr>
            <a:endParaRPr lang="en-US"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548027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p:txBody>
          <a:bodyPr/>
          <a:lstStyle/>
          <a:p>
            <a:r>
              <a:rPr lang="en-US" dirty="0"/>
              <a:t>Business understanding</a:t>
            </a:r>
          </a:p>
        </p:txBody>
      </p:sp>
      <p:sp>
        <p:nvSpPr>
          <p:cNvPr id="3" name="Subtitle 2">
            <a:extLst>
              <a:ext uri="{FF2B5EF4-FFF2-40B4-BE49-F238E27FC236}">
                <a16:creationId xmlns:a16="http://schemas.microsoft.com/office/drawing/2014/main" id="{5A82A8B0-333F-633E-3FA7-D38DBFB10971}"/>
              </a:ext>
            </a:extLst>
          </p:cNvPr>
          <p:cNvSpPr>
            <a:spLocks noGrp="1"/>
          </p:cNvSpPr>
          <p:nvPr>
            <p:ph type="subTitle" idx="1"/>
          </p:nvPr>
        </p:nvSpPr>
        <p:spPr/>
        <p:txBody>
          <a:bodyPr/>
          <a:lstStyle/>
          <a:p>
            <a:r>
              <a:rPr lang="en-US" dirty="0"/>
              <a:t>In the telecommunications industry, maintaining high-quality cellular network performance is critical for customer satisfaction, retention, and operational efficiency. This project uses a real-world dataset containing geolocated signal measurements and network performance metrics to analyze and model key indicators of network health. By combining regression and classification approaches, the aim is to evaluate and predict network performance and classify zones based on service quality.</a:t>
            </a:r>
          </a:p>
          <a:p>
            <a:endParaRPr lang="en-US" dirty="0"/>
          </a:p>
        </p:txBody>
      </p:sp>
    </p:spTree>
    <p:extLst>
      <p:ext uri="{BB962C8B-B14F-4D97-AF65-F5344CB8AC3E}">
        <p14:creationId xmlns:p14="http://schemas.microsoft.com/office/powerpoint/2010/main" val="3380759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10B5-D907-A977-7A9C-69F8BEB7BB3F}"/>
              </a:ext>
            </a:extLst>
          </p:cNvPr>
          <p:cNvSpPr>
            <a:spLocks noGrp="1"/>
          </p:cNvSpPr>
          <p:nvPr>
            <p:ph type="ctrTitle"/>
          </p:nvPr>
        </p:nvSpPr>
        <p:spPr/>
        <p:txBody>
          <a:bodyPr/>
          <a:lstStyle/>
          <a:p>
            <a:r>
              <a:rPr lang="en-US" dirty="0"/>
              <a:t>WHY NOW?</a:t>
            </a:r>
          </a:p>
        </p:txBody>
      </p:sp>
      <p:sp>
        <p:nvSpPr>
          <p:cNvPr id="3" name="Subtitle 2">
            <a:extLst>
              <a:ext uri="{FF2B5EF4-FFF2-40B4-BE49-F238E27FC236}">
                <a16:creationId xmlns:a16="http://schemas.microsoft.com/office/drawing/2014/main" id="{C05FF0B8-5B51-7376-0271-8D849CA3F8A8}"/>
              </a:ext>
            </a:extLst>
          </p:cNvPr>
          <p:cNvSpPr>
            <a:spLocks noGrp="1"/>
          </p:cNvSpPr>
          <p:nvPr>
            <p:ph type="subTitle" idx="1"/>
          </p:nvPr>
        </p:nvSpPr>
        <p:spPr/>
        <p:txBody>
          <a:bodyPr/>
          <a:lstStyle/>
          <a:p>
            <a:r>
              <a:rPr lang="en-US" dirty="0"/>
              <a:t>In the telecommunications industry, maintaining high-quality cellular network performance is critical for customer satisfaction, retention, and operational efficiency. This project uses a real-world dataset containing geolocated signal measurements and network performance metrics to analyze and model key indicators of network health. </a:t>
            </a:r>
          </a:p>
          <a:p>
            <a:endParaRPr lang="en-US" dirty="0"/>
          </a:p>
        </p:txBody>
      </p:sp>
    </p:spTree>
    <p:extLst>
      <p:ext uri="{BB962C8B-B14F-4D97-AF65-F5344CB8AC3E}">
        <p14:creationId xmlns:p14="http://schemas.microsoft.com/office/powerpoint/2010/main" val="548476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52FE8-2F9C-9C12-4EB3-9742EA91D653}"/>
              </a:ext>
            </a:extLst>
          </p:cNvPr>
          <p:cNvSpPr>
            <a:spLocks noGrp="1"/>
          </p:cNvSpPr>
          <p:nvPr>
            <p:ph type="title"/>
          </p:nvPr>
        </p:nvSpPr>
        <p:spPr/>
        <p:txBody>
          <a:bodyPr/>
          <a:lstStyle/>
          <a:p>
            <a:r>
              <a:rPr lang="en-US" sz="4000" b="1" spc="600" dirty="0">
                <a:ln w="28575">
                  <a:noFill/>
                  <a:prstDash val="solid"/>
                </a:ln>
                <a:solidFill>
                  <a:schemeClr val="bg1"/>
                </a:solidFill>
                <a:latin typeface="Tw Cen MT" panose="020B0602020104020603" pitchFamily="34" charset="77"/>
              </a:rPr>
              <a:t>OBJECTIVES</a:t>
            </a:r>
          </a:p>
        </p:txBody>
      </p:sp>
      <p:sp>
        <p:nvSpPr>
          <p:cNvPr id="7" name="Content Placeholder 6">
            <a:extLst>
              <a:ext uri="{FF2B5EF4-FFF2-40B4-BE49-F238E27FC236}">
                <a16:creationId xmlns:a16="http://schemas.microsoft.com/office/drawing/2014/main" id="{0B7C06D7-6AA9-4033-7725-C380A5079E65}"/>
              </a:ext>
            </a:extLst>
          </p:cNvPr>
          <p:cNvSpPr>
            <a:spLocks noGrp="1"/>
          </p:cNvSpPr>
          <p:nvPr>
            <p:ph idx="1"/>
          </p:nvPr>
        </p:nvSpPr>
        <p:spPr>
          <a:xfrm>
            <a:off x="1014984" y="2201333"/>
            <a:ext cx="10332720" cy="4047067"/>
          </a:xfrm>
        </p:spPr>
        <p:txBody>
          <a:bodyPr/>
          <a:lstStyle/>
          <a:p>
            <a:r>
              <a:rPr lang="en-US" dirty="0"/>
              <a:t>Predict continuous performance metrics i.e signal strength (Dbm) and data throughput (mbps)</a:t>
            </a:r>
          </a:p>
          <a:p>
            <a:r>
              <a:rPr lang="en-US" dirty="0"/>
              <a:t>Predict the </a:t>
            </a:r>
            <a:r>
              <a:rPr lang="en-US" b="1" dirty="0"/>
              <a:t>network type</a:t>
            </a:r>
            <a:r>
              <a:rPr lang="en-US" dirty="0"/>
              <a:t> (e.g., 3G, 4G, 5G) based on observed signal and performance data.</a:t>
            </a:r>
          </a:p>
          <a:p>
            <a:r>
              <a:rPr lang="en-US" dirty="0"/>
              <a:t>Compare the reliability of different signal measurement tools (BB60C, srsRAN, BladeRFxA9).</a:t>
            </a:r>
          </a:p>
          <a:p>
            <a:endParaRPr lang="en-US" dirty="0"/>
          </a:p>
          <a:p>
            <a:endParaRPr lang="en-US" dirty="0"/>
          </a:p>
          <a:p>
            <a:pPr marL="0" indent="0">
              <a:buNone/>
            </a:pPr>
            <a:r>
              <a:rPr lang="en-US" dirty="0"/>
              <a:t>  </a:t>
            </a:r>
          </a:p>
          <a:p>
            <a:endParaRPr lang="en-US" dirty="0"/>
          </a:p>
        </p:txBody>
      </p:sp>
      <p:sp>
        <p:nvSpPr>
          <p:cNvPr id="5" name="Slide Number Placeholder 4">
            <a:extLst>
              <a:ext uri="{FF2B5EF4-FFF2-40B4-BE49-F238E27FC236}">
                <a16:creationId xmlns:a16="http://schemas.microsoft.com/office/drawing/2014/main" id="{2A8E318B-D756-6C57-8657-96C836320839}"/>
              </a:ext>
            </a:extLst>
          </p:cNvPr>
          <p:cNvSpPr>
            <a:spLocks noGrp="1"/>
          </p:cNvSpPr>
          <p:nvPr>
            <p:ph type="sldNum" sz="quarter" idx="11"/>
          </p:nvPr>
        </p:nvSpPr>
        <p:spPr/>
        <p:txBody>
          <a:bodyPr/>
          <a:lstStyle/>
          <a:p>
            <a:fld id="{294A09A9-5501-47C1-A89A-A340965A2BE2}" type="slidenum">
              <a:rPr lang="en-US" smtClean="0"/>
              <a:pPr/>
              <a:t>5</a:t>
            </a:fld>
            <a:endParaRPr lang="en-US" dirty="0"/>
          </a:p>
        </p:txBody>
      </p:sp>
    </p:spTree>
    <p:extLst>
      <p:ext uri="{BB962C8B-B14F-4D97-AF65-F5344CB8AC3E}">
        <p14:creationId xmlns:p14="http://schemas.microsoft.com/office/powerpoint/2010/main" val="1372651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DEE9-2DBD-C997-C208-027230B5A3EA}"/>
              </a:ext>
            </a:extLst>
          </p:cNvPr>
          <p:cNvSpPr>
            <a:spLocks noGrp="1"/>
          </p:cNvSpPr>
          <p:nvPr>
            <p:ph type="title"/>
          </p:nvPr>
        </p:nvSpPr>
        <p:spPr>
          <a:xfrm>
            <a:off x="1098804" y="832104"/>
            <a:ext cx="9994392" cy="1069848"/>
          </a:xfrm>
        </p:spPr>
        <p:txBody>
          <a:bodyPr/>
          <a:lstStyle/>
          <a:p>
            <a:r>
              <a:rPr lang="en-US" dirty="0">
                <a:ln w="28575">
                  <a:noFill/>
                  <a:prstDash val="solid"/>
                </a:ln>
                <a:latin typeface="Tw Cen MT" panose="020B0602020104020603" pitchFamily="34" charset="77"/>
              </a:rPr>
              <a:t>METRICS OF SUCCESS</a:t>
            </a:r>
            <a:endParaRPr lang="en-US" sz="4000" b="1" spc="600" dirty="0">
              <a:ln w="28575">
                <a:noFill/>
                <a:prstDash val="solid"/>
              </a:ln>
              <a:solidFill>
                <a:schemeClr val="bg1"/>
              </a:solidFill>
              <a:latin typeface="Tw Cen MT" panose="020B0602020104020603" pitchFamily="34" charset="77"/>
            </a:endParaRPr>
          </a:p>
        </p:txBody>
      </p:sp>
      <p:graphicFrame>
        <p:nvGraphicFramePr>
          <p:cNvPr id="11" name="Content Placeholder 10">
            <a:extLst>
              <a:ext uri="{FF2B5EF4-FFF2-40B4-BE49-F238E27FC236}">
                <a16:creationId xmlns:a16="http://schemas.microsoft.com/office/drawing/2014/main" id="{CAFCD399-4B2A-F33F-A26B-82D3CE1D7B55}"/>
              </a:ext>
            </a:extLst>
          </p:cNvPr>
          <p:cNvGraphicFramePr>
            <a:graphicFrameLocks noGrp="1"/>
          </p:cNvGraphicFramePr>
          <p:nvPr>
            <p:ph idx="1"/>
            <p:extLst>
              <p:ext uri="{D42A27DB-BD31-4B8C-83A1-F6EECF244321}">
                <p14:modId xmlns:p14="http://schemas.microsoft.com/office/powerpoint/2010/main" val="1643347204"/>
              </p:ext>
            </p:extLst>
          </p:nvPr>
        </p:nvGraphicFramePr>
        <p:xfrm>
          <a:off x="1014413" y="2212975"/>
          <a:ext cx="10333036" cy="1483360"/>
        </p:xfrm>
        <a:graphic>
          <a:graphicData uri="http://schemas.openxmlformats.org/drawingml/2006/table">
            <a:tbl>
              <a:tblPr firstRow="1" bandRow="1">
                <a:tableStyleId>{073A0DAA-6AF3-43AB-8588-CEC1D06C72B9}</a:tableStyleId>
              </a:tblPr>
              <a:tblGrid>
                <a:gridCol w="5166518">
                  <a:extLst>
                    <a:ext uri="{9D8B030D-6E8A-4147-A177-3AD203B41FA5}">
                      <a16:colId xmlns:a16="http://schemas.microsoft.com/office/drawing/2014/main" val="352008647"/>
                    </a:ext>
                  </a:extLst>
                </a:gridCol>
                <a:gridCol w="5166518">
                  <a:extLst>
                    <a:ext uri="{9D8B030D-6E8A-4147-A177-3AD203B41FA5}">
                      <a16:colId xmlns:a16="http://schemas.microsoft.com/office/drawing/2014/main" val="273501412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lt1"/>
                          </a:solidFill>
                          <a:effectLst/>
                          <a:latin typeface="+mn-lt"/>
                          <a:ea typeface="+mn-ea"/>
                          <a:cs typeface="+mn-cs"/>
                        </a:rPr>
                        <a:t>Task </a:t>
                      </a:r>
                    </a:p>
                  </a:txBody>
                  <a:tcPr/>
                </a:tc>
                <a:tc>
                  <a:txBody>
                    <a:bodyPr/>
                    <a:lstStyle/>
                    <a:p>
                      <a:r>
                        <a:rPr lang="en-US" dirty="0"/>
                        <a:t> Metrics</a:t>
                      </a:r>
                    </a:p>
                  </a:txBody>
                  <a:tcPr/>
                </a:tc>
                <a:extLst>
                  <a:ext uri="{0D108BD9-81ED-4DB2-BD59-A6C34878D82A}">
                    <a16:rowId xmlns:a16="http://schemas.microsoft.com/office/drawing/2014/main" val="1201315825"/>
                  </a:ext>
                </a:extLst>
              </a:tr>
              <a:tr h="370840">
                <a:tc>
                  <a:txBody>
                    <a:bodyPr/>
                    <a:lstStyle/>
                    <a:p>
                      <a:r>
                        <a:rPr lang="en-US" dirty="0"/>
                        <a:t>Regression</a:t>
                      </a:r>
                    </a:p>
                  </a:txBody>
                  <a:tcPr/>
                </a:tc>
                <a:tc>
                  <a:txBody>
                    <a:bodyPr/>
                    <a:lstStyle/>
                    <a:p>
                      <a:r>
                        <a:rPr lang="en-US" dirty="0"/>
                        <a:t>R-Squared, MSE, MAE RMSE</a:t>
                      </a:r>
                    </a:p>
                  </a:txBody>
                  <a:tcPr/>
                </a:tc>
                <a:extLst>
                  <a:ext uri="{0D108BD9-81ED-4DB2-BD59-A6C34878D82A}">
                    <a16:rowId xmlns:a16="http://schemas.microsoft.com/office/drawing/2014/main" val="1394404811"/>
                  </a:ext>
                </a:extLst>
              </a:tr>
              <a:tr h="370840">
                <a:tc>
                  <a:txBody>
                    <a:bodyPr/>
                    <a:lstStyle/>
                    <a:p>
                      <a:r>
                        <a:rPr lang="en-US" dirty="0"/>
                        <a:t>Network  Type Classification</a:t>
                      </a:r>
                    </a:p>
                  </a:txBody>
                  <a:tcPr/>
                </a:tc>
                <a:tc>
                  <a:txBody>
                    <a:bodyPr/>
                    <a:lstStyle/>
                    <a:p>
                      <a:r>
                        <a:rPr lang="en-US" dirty="0"/>
                        <a:t>Accuracy, F1-Score</a:t>
                      </a:r>
                    </a:p>
                  </a:txBody>
                  <a:tcPr/>
                </a:tc>
                <a:extLst>
                  <a:ext uri="{0D108BD9-81ED-4DB2-BD59-A6C34878D82A}">
                    <a16:rowId xmlns:a16="http://schemas.microsoft.com/office/drawing/2014/main" val="786248921"/>
                  </a:ext>
                </a:extLst>
              </a:tr>
              <a:tr h="370840">
                <a:tc>
                  <a:txBody>
                    <a:bodyPr/>
                    <a:lstStyle/>
                    <a:p>
                      <a:r>
                        <a:rPr lang="en-US" dirty="0"/>
                        <a:t>Feature Importance</a:t>
                      </a:r>
                    </a:p>
                  </a:txBody>
                  <a:tcPr/>
                </a:tc>
                <a:tc>
                  <a:txBody>
                    <a:bodyPr/>
                    <a:lstStyle/>
                    <a:p>
                      <a:r>
                        <a:rPr lang="en-US" dirty="0"/>
                        <a:t>Feature Importance Graph</a:t>
                      </a:r>
                    </a:p>
                  </a:txBody>
                  <a:tcPr/>
                </a:tc>
                <a:extLst>
                  <a:ext uri="{0D108BD9-81ED-4DB2-BD59-A6C34878D82A}">
                    <a16:rowId xmlns:a16="http://schemas.microsoft.com/office/drawing/2014/main" val="2464589105"/>
                  </a:ext>
                </a:extLst>
              </a:tr>
            </a:tbl>
          </a:graphicData>
        </a:graphic>
      </p:graphicFrame>
      <p:sp>
        <p:nvSpPr>
          <p:cNvPr id="5" name="Slide Number Placeholder 4">
            <a:extLst>
              <a:ext uri="{FF2B5EF4-FFF2-40B4-BE49-F238E27FC236}">
                <a16:creationId xmlns:a16="http://schemas.microsoft.com/office/drawing/2014/main" id="{F79CF1F9-4847-1440-0352-6D1284A48D05}"/>
              </a:ext>
            </a:extLst>
          </p:cNvPr>
          <p:cNvSpPr>
            <a:spLocks noGrp="1"/>
          </p:cNvSpPr>
          <p:nvPr>
            <p:ph type="sldNum" sz="quarter" idx="11"/>
          </p:nvPr>
        </p:nvSpPr>
        <p:spPr/>
        <p:txBody>
          <a:bodyPr/>
          <a:lstStyle/>
          <a:p>
            <a:fld id="{294A09A9-5501-47C1-A89A-A340965A2BE2}" type="slidenum">
              <a:rPr lang="en-US" smtClean="0"/>
              <a:pPr/>
              <a:t>6</a:t>
            </a:fld>
            <a:endParaRPr lang="en-US" dirty="0"/>
          </a:p>
        </p:txBody>
      </p:sp>
      <p:sp>
        <p:nvSpPr>
          <p:cNvPr id="3" name="Footer Placeholder 2">
            <a:extLst>
              <a:ext uri="{FF2B5EF4-FFF2-40B4-BE49-F238E27FC236}">
                <a16:creationId xmlns:a16="http://schemas.microsoft.com/office/drawing/2014/main" id="{D534491D-AF3A-C879-49E6-F11A17AC3008}"/>
              </a:ext>
            </a:extLst>
          </p:cNvPr>
          <p:cNvSpPr>
            <a:spLocks noGrp="1"/>
          </p:cNvSpPr>
          <p:nvPr>
            <p:ph type="ftr" sz="quarter" idx="10"/>
          </p:nvPr>
        </p:nvSpPr>
        <p:spPr/>
        <p:txBody>
          <a:bodyPr/>
          <a:lstStyle/>
          <a:p>
            <a:r>
              <a:rPr lang="en-US" dirty="0"/>
              <a:t>6</a:t>
            </a:r>
          </a:p>
        </p:txBody>
      </p:sp>
    </p:spTree>
    <p:extLst>
      <p:ext uri="{BB962C8B-B14F-4D97-AF65-F5344CB8AC3E}">
        <p14:creationId xmlns:p14="http://schemas.microsoft.com/office/powerpoint/2010/main" val="1208724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4C44EC9-F730-00B6-E479-530EC276D851}"/>
              </a:ext>
              <a:ext uri="{C183D7F6-B498-43B3-948B-1728B52AA6E4}">
                <adec:decorative xmlns:adec="http://schemas.microsoft.com/office/drawing/2017/decorative" val="1"/>
              </a:ext>
            </a:extLst>
          </p:cNvPr>
          <p:cNvGrpSpPr/>
          <p:nvPr/>
        </p:nvGrpSpPr>
        <p:grpSpPr>
          <a:xfrm rot="10800000">
            <a:off x="1497321" y="2736484"/>
            <a:ext cx="1512407" cy="938717"/>
            <a:chOff x="4779792" y="2384561"/>
            <a:chExt cx="3365480" cy="2088878"/>
          </a:xfrm>
          <a:solidFill>
            <a:schemeClr val="accent6">
              <a:alpha val="50231"/>
            </a:schemeClr>
          </a:solidFill>
        </p:grpSpPr>
        <p:sp>
          <p:nvSpPr>
            <p:cNvPr id="5" name="Freeform 4">
              <a:extLst>
                <a:ext uri="{FF2B5EF4-FFF2-40B4-BE49-F238E27FC236}">
                  <a16:creationId xmlns:a16="http://schemas.microsoft.com/office/drawing/2014/main" id="{8B6D2F8E-4F98-B89F-E4FB-DD9F900821E1}"/>
                </a:ext>
              </a:extLst>
            </p:cNvPr>
            <p:cNvSpPr/>
            <p:nvPr/>
          </p:nvSpPr>
          <p:spPr>
            <a:xfrm flipH="1">
              <a:off x="6582137"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99EBD7AD-ED91-CC5F-0110-3EE43A60F946}"/>
                </a:ext>
              </a:extLst>
            </p:cNvPr>
            <p:cNvSpPr/>
            <p:nvPr/>
          </p:nvSpPr>
          <p:spPr>
            <a:xfrm flipH="1">
              <a:off x="4779792"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7" name="Group 6">
            <a:extLst>
              <a:ext uri="{FF2B5EF4-FFF2-40B4-BE49-F238E27FC236}">
                <a16:creationId xmlns:a16="http://schemas.microsoft.com/office/drawing/2014/main" id="{56B0BED4-B4D2-A8C2-9E8E-FA7D1819E15A}"/>
              </a:ext>
              <a:ext uri="{C183D7F6-B498-43B3-948B-1728B52AA6E4}">
                <adec:decorative xmlns:adec="http://schemas.microsoft.com/office/drawing/2017/decorative" val="1"/>
              </a:ext>
            </a:extLst>
          </p:cNvPr>
          <p:cNvGrpSpPr/>
          <p:nvPr/>
        </p:nvGrpSpPr>
        <p:grpSpPr>
          <a:xfrm>
            <a:off x="9199707" y="3205843"/>
            <a:ext cx="1512408" cy="938718"/>
            <a:chOff x="4779792" y="2384561"/>
            <a:chExt cx="3365480" cy="2088878"/>
          </a:xfrm>
          <a:solidFill>
            <a:schemeClr val="accent1">
              <a:alpha val="48174"/>
            </a:schemeClr>
          </a:solidFill>
        </p:grpSpPr>
        <p:sp>
          <p:nvSpPr>
            <p:cNvPr id="8" name="Freeform 1">
              <a:extLst>
                <a:ext uri="{FF2B5EF4-FFF2-40B4-BE49-F238E27FC236}">
                  <a16:creationId xmlns:a16="http://schemas.microsoft.com/office/drawing/2014/main" id="{B542C6FD-B908-03BB-DE9D-1E76EE849265}"/>
                </a:ext>
              </a:extLst>
            </p:cNvPr>
            <p:cNvSpPr/>
            <p:nvPr/>
          </p:nvSpPr>
          <p:spPr>
            <a:xfrm flipH="1">
              <a:off x="6582137"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21">
              <a:extLst>
                <a:ext uri="{FF2B5EF4-FFF2-40B4-BE49-F238E27FC236}">
                  <a16:creationId xmlns:a16="http://schemas.microsoft.com/office/drawing/2014/main" id="{594F7F18-2B8D-7493-904B-1BD252DFC677}"/>
                </a:ext>
              </a:extLst>
            </p:cNvPr>
            <p:cNvSpPr/>
            <p:nvPr/>
          </p:nvSpPr>
          <p:spPr>
            <a:xfrm flipH="1">
              <a:off x="4779792"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D04F090D-C862-CF85-1001-A82E54365597}"/>
              </a:ext>
            </a:extLst>
          </p:cNvPr>
          <p:cNvSpPr>
            <a:spLocks noGrp="1"/>
          </p:cNvSpPr>
          <p:nvPr>
            <p:ph type="title"/>
          </p:nvPr>
        </p:nvSpPr>
        <p:spPr>
          <a:xfrm>
            <a:off x="655320" y="1120325"/>
            <a:ext cx="10881360" cy="1069848"/>
          </a:xfrm>
        </p:spPr>
        <p:txBody>
          <a:bodyPr/>
          <a:lstStyle/>
          <a:p>
            <a:br>
              <a:rPr lang="en-US" dirty="0"/>
            </a:br>
            <a:r>
              <a:rPr lang="en-US" dirty="0"/>
              <a:t>DATA UNDERSTANDING</a:t>
            </a:r>
          </a:p>
        </p:txBody>
      </p:sp>
      <p:sp>
        <p:nvSpPr>
          <p:cNvPr id="3" name="Subtitle 2">
            <a:extLst>
              <a:ext uri="{FF2B5EF4-FFF2-40B4-BE49-F238E27FC236}">
                <a16:creationId xmlns:a16="http://schemas.microsoft.com/office/drawing/2014/main" id="{4CE82C04-6445-9E02-B0E8-8D809278C37D}"/>
              </a:ext>
            </a:extLst>
          </p:cNvPr>
          <p:cNvSpPr>
            <a:spLocks noGrp="1"/>
          </p:cNvSpPr>
          <p:nvPr>
            <p:ph idx="1"/>
          </p:nvPr>
        </p:nvSpPr>
        <p:spPr/>
        <p:txBody>
          <a:bodyPr/>
          <a:lstStyle/>
          <a:p>
            <a:pPr marL="0" indent="0">
              <a:buNone/>
            </a:pPr>
            <a:endParaRPr lang="en-US" dirty="0"/>
          </a:p>
          <a:p>
            <a:pPr marL="0" indent="0">
              <a:buNone/>
            </a:pPr>
            <a:r>
              <a:rPr lang="en-US" dirty="0"/>
              <a:t>The dataset contains signal quality measurements from various geographic locations and cellular network types. The goal is to assess and model the quality of service across different network types and environments.</a:t>
            </a:r>
          </a:p>
          <a:p>
            <a:endParaRPr lang="en-US" dirty="0"/>
          </a:p>
        </p:txBody>
      </p:sp>
    </p:spTree>
    <p:extLst>
      <p:ext uri="{BB962C8B-B14F-4D97-AF65-F5344CB8AC3E}">
        <p14:creationId xmlns:p14="http://schemas.microsoft.com/office/powerpoint/2010/main" val="1213210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DF98D-41D6-492A-B929-8C363D350BE7}"/>
              </a:ext>
            </a:extLst>
          </p:cNvPr>
          <p:cNvSpPr>
            <a:spLocks noGrp="1"/>
          </p:cNvSpPr>
          <p:nvPr>
            <p:ph type="title"/>
          </p:nvPr>
        </p:nvSpPr>
        <p:spPr/>
        <p:txBody>
          <a:bodyPr/>
          <a:lstStyle/>
          <a:p>
            <a:r>
              <a:rPr lang="en-US" dirty="0"/>
              <a:t>EXPLORATORY DATA ANALYSIS</a:t>
            </a:r>
          </a:p>
        </p:txBody>
      </p:sp>
      <p:sp>
        <p:nvSpPr>
          <p:cNvPr id="3" name="Content Placeholder 2">
            <a:extLst>
              <a:ext uri="{FF2B5EF4-FFF2-40B4-BE49-F238E27FC236}">
                <a16:creationId xmlns:a16="http://schemas.microsoft.com/office/drawing/2014/main" id="{7B9D92A3-AF86-50E0-FE0E-F0569C8FE842}"/>
              </a:ext>
            </a:extLst>
          </p:cNvPr>
          <p:cNvSpPr>
            <a:spLocks noGrp="1"/>
          </p:cNvSpPr>
          <p:nvPr>
            <p:ph idx="1"/>
          </p:nvPr>
        </p:nvSpPr>
        <p:spPr/>
        <p:txBody>
          <a:bodyPr/>
          <a:lstStyle/>
          <a:p>
            <a:r>
              <a:rPr lang="en-US" dirty="0"/>
              <a:t>Uni-variate Analysis</a:t>
            </a:r>
          </a:p>
          <a:p>
            <a:r>
              <a:rPr lang="en-US" dirty="0"/>
              <a:t>Bi-variate Analysis</a:t>
            </a:r>
          </a:p>
          <a:p>
            <a:r>
              <a:rPr lang="en-US" dirty="0"/>
              <a:t>Multi-variate Analysis</a:t>
            </a:r>
          </a:p>
        </p:txBody>
      </p:sp>
      <p:sp>
        <p:nvSpPr>
          <p:cNvPr id="4" name="Slide Number Placeholder 3">
            <a:extLst>
              <a:ext uri="{FF2B5EF4-FFF2-40B4-BE49-F238E27FC236}">
                <a16:creationId xmlns:a16="http://schemas.microsoft.com/office/drawing/2014/main" id="{EF79AF73-822A-2480-8847-2EF1BC071126}"/>
              </a:ext>
            </a:extLst>
          </p:cNvPr>
          <p:cNvSpPr>
            <a:spLocks noGrp="1"/>
          </p:cNvSpPr>
          <p:nvPr>
            <p:ph type="sldNum" sz="quarter" idx="11"/>
          </p:nvPr>
        </p:nvSpPr>
        <p:spPr/>
        <p:txBody>
          <a:bodyPr/>
          <a:lstStyle/>
          <a:p>
            <a:fld id="{294A09A9-5501-47C1-A89A-A340965A2BE2}" type="slidenum">
              <a:rPr lang="en-US" smtClean="0"/>
              <a:pPr/>
              <a:t>8</a:t>
            </a:fld>
            <a:endParaRPr lang="en-US" dirty="0"/>
          </a:p>
        </p:txBody>
      </p:sp>
    </p:spTree>
    <p:extLst>
      <p:ext uri="{BB962C8B-B14F-4D97-AF65-F5344CB8AC3E}">
        <p14:creationId xmlns:p14="http://schemas.microsoft.com/office/powerpoint/2010/main" val="2281044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7CA71-C7EB-F572-EE13-B9C775E4FC34}"/>
              </a:ext>
            </a:extLst>
          </p:cNvPr>
          <p:cNvSpPr>
            <a:spLocks noGrp="1"/>
          </p:cNvSpPr>
          <p:nvPr>
            <p:ph type="title"/>
          </p:nvPr>
        </p:nvSpPr>
        <p:spPr/>
        <p:txBody>
          <a:bodyPr/>
          <a:lstStyle/>
          <a:p>
            <a:r>
              <a:rPr lang="en-US" dirty="0"/>
              <a:t>UNI-VARIATE analysis</a:t>
            </a:r>
          </a:p>
        </p:txBody>
      </p:sp>
      <p:pic>
        <p:nvPicPr>
          <p:cNvPr id="9" name="Content Placeholder 8">
            <a:extLst>
              <a:ext uri="{FF2B5EF4-FFF2-40B4-BE49-F238E27FC236}">
                <a16:creationId xmlns:a16="http://schemas.microsoft.com/office/drawing/2014/main" id="{69FF6339-4E5A-B209-B387-7F5E2D80F780}"/>
              </a:ext>
            </a:extLst>
          </p:cNvPr>
          <p:cNvPicPr>
            <a:picLocks noGrp="1" noChangeAspect="1"/>
          </p:cNvPicPr>
          <p:nvPr>
            <p:ph sz="half" idx="1"/>
          </p:nvPr>
        </p:nvPicPr>
        <p:blipFill>
          <a:blip r:embed="rId2"/>
          <a:stretch>
            <a:fillRect/>
          </a:stretch>
        </p:blipFill>
        <p:spPr>
          <a:xfrm>
            <a:off x="838200" y="2732331"/>
            <a:ext cx="5181600" cy="2537926"/>
          </a:xfrm>
        </p:spPr>
      </p:pic>
      <p:sp>
        <p:nvSpPr>
          <p:cNvPr id="7" name="Content Placeholder 6">
            <a:extLst>
              <a:ext uri="{FF2B5EF4-FFF2-40B4-BE49-F238E27FC236}">
                <a16:creationId xmlns:a16="http://schemas.microsoft.com/office/drawing/2014/main" id="{0523E6F6-18D4-DA5E-AB38-8ADAA2DFE13C}"/>
              </a:ext>
            </a:extLst>
          </p:cNvPr>
          <p:cNvSpPr>
            <a:spLocks noGrp="1"/>
          </p:cNvSpPr>
          <p:nvPr>
            <p:ph sz="half" idx="2"/>
          </p:nvPr>
        </p:nvSpPr>
        <p:spPr>
          <a:xfrm>
            <a:off x="6493933" y="2011680"/>
            <a:ext cx="5559552" cy="4014217"/>
          </a:xfrm>
        </p:spPr>
        <p:txBody>
          <a:bodyPr/>
          <a:lstStyle/>
          <a:p>
            <a:r>
              <a:rPr lang="en-US" dirty="0"/>
              <a:t>The distribution is approximately normal, centered around -90 dBm, which represents typical signal strengths within the dataset.</a:t>
            </a:r>
          </a:p>
          <a:p>
            <a:endParaRPr lang="en-US" dirty="0"/>
          </a:p>
        </p:txBody>
      </p:sp>
      <p:sp>
        <p:nvSpPr>
          <p:cNvPr id="5" name="Footer Placeholder 4">
            <a:extLst>
              <a:ext uri="{FF2B5EF4-FFF2-40B4-BE49-F238E27FC236}">
                <a16:creationId xmlns:a16="http://schemas.microsoft.com/office/drawing/2014/main" id="{5CD2B895-8689-55CF-2F97-8373238834CE}"/>
              </a:ext>
            </a:extLst>
          </p:cNvPr>
          <p:cNvSpPr>
            <a:spLocks noGrp="1"/>
          </p:cNvSpPr>
          <p:nvPr>
            <p:ph type="ftr" sz="quarter" idx="11"/>
          </p:nvPr>
        </p:nvSpPr>
        <p:spPr/>
        <p:txBody>
          <a:bodyPr/>
          <a:lstStyle/>
          <a:p>
            <a:r>
              <a:rPr lang="en-US" dirty="0"/>
              <a:t>9</a:t>
            </a:r>
          </a:p>
        </p:txBody>
      </p:sp>
      <p:sp>
        <p:nvSpPr>
          <p:cNvPr id="4" name="Slide Number Placeholder 3">
            <a:extLst>
              <a:ext uri="{FF2B5EF4-FFF2-40B4-BE49-F238E27FC236}">
                <a16:creationId xmlns:a16="http://schemas.microsoft.com/office/drawing/2014/main" id="{2F4F7A0B-E957-8B31-F329-08EC6622A72E}"/>
              </a:ext>
            </a:extLst>
          </p:cNvPr>
          <p:cNvSpPr>
            <a:spLocks noGrp="1"/>
          </p:cNvSpPr>
          <p:nvPr>
            <p:ph type="sldNum" sz="quarter" idx="12"/>
          </p:nvPr>
        </p:nvSpPr>
        <p:spPr/>
        <p:txBody>
          <a:bodyPr/>
          <a:lstStyle/>
          <a:p>
            <a:fld id="{294A09A9-5501-47C1-A89A-A340965A2BE2}" type="slidenum">
              <a:rPr lang="en-US" smtClean="0"/>
              <a:pPr/>
              <a:t>9</a:t>
            </a:fld>
            <a:endParaRPr lang="en-US" dirty="0"/>
          </a:p>
        </p:txBody>
      </p:sp>
    </p:spTree>
    <p:extLst>
      <p:ext uri="{BB962C8B-B14F-4D97-AF65-F5344CB8AC3E}">
        <p14:creationId xmlns:p14="http://schemas.microsoft.com/office/powerpoint/2010/main" val="3132012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9B65E-18D7-D3C0-BA77-8CF243144A4E}"/>
              </a:ext>
            </a:extLst>
          </p:cNvPr>
          <p:cNvSpPr>
            <a:spLocks noGrp="1"/>
          </p:cNvSpPr>
          <p:nvPr>
            <p:ph type="title"/>
          </p:nvPr>
        </p:nvSpPr>
        <p:spPr/>
        <p:txBody>
          <a:bodyPr/>
          <a:lstStyle/>
          <a:p>
            <a:r>
              <a:rPr lang="en-US" dirty="0"/>
              <a:t>THROUGHPUT DISTRIBUTION.</a:t>
            </a:r>
          </a:p>
        </p:txBody>
      </p:sp>
      <p:pic>
        <p:nvPicPr>
          <p:cNvPr id="8" name="Content Placeholder 7">
            <a:extLst>
              <a:ext uri="{FF2B5EF4-FFF2-40B4-BE49-F238E27FC236}">
                <a16:creationId xmlns:a16="http://schemas.microsoft.com/office/drawing/2014/main" id="{E371B06A-2C9D-175F-1428-3A9F8D93F28D}"/>
              </a:ext>
            </a:extLst>
          </p:cNvPr>
          <p:cNvPicPr>
            <a:picLocks noGrp="1" noChangeAspect="1"/>
          </p:cNvPicPr>
          <p:nvPr>
            <p:ph sz="half" idx="1"/>
          </p:nvPr>
        </p:nvPicPr>
        <p:blipFill>
          <a:blip r:embed="rId2"/>
          <a:stretch>
            <a:fillRect/>
          </a:stretch>
        </p:blipFill>
        <p:spPr>
          <a:xfrm>
            <a:off x="838200" y="2732331"/>
            <a:ext cx="5181600" cy="2537926"/>
          </a:xfrm>
        </p:spPr>
      </p:pic>
      <p:sp>
        <p:nvSpPr>
          <p:cNvPr id="4" name="Content Placeholder 3">
            <a:extLst>
              <a:ext uri="{FF2B5EF4-FFF2-40B4-BE49-F238E27FC236}">
                <a16:creationId xmlns:a16="http://schemas.microsoft.com/office/drawing/2014/main" id="{DA200DA3-8FAA-84D8-9761-F1CF6FE81A8F}"/>
              </a:ext>
            </a:extLst>
          </p:cNvPr>
          <p:cNvSpPr>
            <a:spLocks noGrp="1"/>
          </p:cNvSpPr>
          <p:nvPr>
            <p:ph sz="half" idx="2"/>
          </p:nvPr>
        </p:nvSpPr>
        <p:spPr/>
        <p:txBody>
          <a:bodyPr/>
          <a:lstStyle/>
          <a:p>
            <a:r>
              <a:rPr lang="en-US" dirty="0"/>
              <a:t>This feature is highly skewed towards lower values, indicating that most measurements show lower data speeds, with fewer instances of high throughput.</a:t>
            </a:r>
          </a:p>
          <a:p>
            <a:endParaRPr lang="en-US" dirty="0"/>
          </a:p>
        </p:txBody>
      </p:sp>
      <p:sp>
        <p:nvSpPr>
          <p:cNvPr id="5" name="Footer Placeholder 4">
            <a:extLst>
              <a:ext uri="{FF2B5EF4-FFF2-40B4-BE49-F238E27FC236}">
                <a16:creationId xmlns:a16="http://schemas.microsoft.com/office/drawing/2014/main" id="{94F8E31D-5D8B-E1D5-3700-7FD4300C1FE5}"/>
              </a:ext>
            </a:extLst>
          </p:cNvPr>
          <p:cNvSpPr>
            <a:spLocks noGrp="1"/>
          </p:cNvSpPr>
          <p:nvPr>
            <p:ph type="ftr" sz="quarter" idx="11"/>
          </p:nvPr>
        </p:nvSpPr>
        <p:spPr/>
        <p:txBody>
          <a:bodyPr/>
          <a:lstStyle/>
          <a:p>
            <a:r>
              <a:rPr lang="en-US" dirty="0"/>
              <a:t>10</a:t>
            </a:r>
          </a:p>
        </p:txBody>
      </p:sp>
      <p:sp>
        <p:nvSpPr>
          <p:cNvPr id="6" name="Slide Number Placeholder 5">
            <a:extLst>
              <a:ext uri="{FF2B5EF4-FFF2-40B4-BE49-F238E27FC236}">
                <a16:creationId xmlns:a16="http://schemas.microsoft.com/office/drawing/2014/main" id="{921A4064-FDE7-2F9D-B47E-E6F9F3378230}"/>
              </a:ext>
            </a:extLst>
          </p:cNvPr>
          <p:cNvSpPr>
            <a:spLocks noGrp="1"/>
          </p:cNvSpPr>
          <p:nvPr>
            <p:ph type="sldNum" sz="quarter" idx="12"/>
          </p:nvPr>
        </p:nvSpPr>
        <p:spPr/>
        <p:txBody>
          <a:bodyPr/>
          <a:lstStyle/>
          <a:p>
            <a:fld id="{294A09A9-5501-47C1-A89A-A340965A2BE2}" type="slidenum">
              <a:rPr lang="en-US" smtClean="0"/>
              <a:t>10</a:t>
            </a:fld>
            <a:endParaRPr lang="en-US" dirty="0"/>
          </a:p>
        </p:txBody>
      </p:sp>
    </p:spTree>
    <p:extLst>
      <p:ext uri="{BB962C8B-B14F-4D97-AF65-F5344CB8AC3E}">
        <p14:creationId xmlns:p14="http://schemas.microsoft.com/office/powerpoint/2010/main" val="3803238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5B6E2-954A-7B98-FF3A-455DA243E7FA}"/>
              </a:ext>
            </a:extLst>
          </p:cNvPr>
          <p:cNvSpPr>
            <a:spLocks noGrp="1"/>
          </p:cNvSpPr>
          <p:nvPr>
            <p:ph type="title"/>
          </p:nvPr>
        </p:nvSpPr>
        <p:spPr/>
        <p:txBody>
          <a:bodyPr/>
          <a:lstStyle/>
          <a:p>
            <a:r>
              <a:rPr lang="en-US" dirty="0"/>
              <a:t>Network type distribution</a:t>
            </a:r>
          </a:p>
        </p:txBody>
      </p:sp>
      <p:pic>
        <p:nvPicPr>
          <p:cNvPr id="8" name="Content Placeholder 7">
            <a:extLst>
              <a:ext uri="{FF2B5EF4-FFF2-40B4-BE49-F238E27FC236}">
                <a16:creationId xmlns:a16="http://schemas.microsoft.com/office/drawing/2014/main" id="{5E00DC88-C5CF-2916-F99D-AEE72172798D}"/>
              </a:ext>
            </a:extLst>
          </p:cNvPr>
          <p:cNvPicPr>
            <a:picLocks noGrp="1" noChangeAspect="1"/>
          </p:cNvPicPr>
          <p:nvPr>
            <p:ph sz="half" idx="1"/>
          </p:nvPr>
        </p:nvPicPr>
        <p:blipFill>
          <a:blip r:embed="rId2"/>
          <a:stretch>
            <a:fillRect/>
          </a:stretch>
        </p:blipFill>
        <p:spPr>
          <a:xfrm>
            <a:off x="982133" y="1825625"/>
            <a:ext cx="4535855" cy="4200271"/>
          </a:xfrm>
        </p:spPr>
      </p:pic>
      <p:sp>
        <p:nvSpPr>
          <p:cNvPr id="4" name="Content Placeholder 3">
            <a:extLst>
              <a:ext uri="{FF2B5EF4-FFF2-40B4-BE49-F238E27FC236}">
                <a16:creationId xmlns:a16="http://schemas.microsoft.com/office/drawing/2014/main" id="{4C61A419-2A30-8ECD-2945-B9A6063AE9C3}"/>
              </a:ext>
            </a:extLst>
          </p:cNvPr>
          <p:cNvSpPr>
            <a:spLocks noGrp="1"/>
          </p:cNvSpPr>
          <p:nvPr>
            <p:ph sz="half" idx="2"/>
          </p:nvPr>
        </p:nvSpPr>
        <p:spPr/>
        <p:txBody>
          <a:bodyPr/>
          <a:lstStyle/>
          <a:p>
            <a:r>
              <a:rPr lang="en-US" dirty="0"/>
              <a:t>Each category accounts for approximately 25% of the total, suggesting a nearly uniform distribution among these network types.</a:t>
            </a:r>
          </a:p>
          <a:p>
            <a:pPr marL="0" indent="0">
              <a:buNone/>
            </a:pPr>
            <a:br>
              <a:rPr lang="en-US" dirty="0"/>
            </a:br>
            <a:endParaRPr lang="en-US" dirty="0"/>
          </a:p>
          <a:p>
            <a:endParaRPr lang="en-US" dirty="0"/>
          </a:p>
        </p:txBody>
      </p:sp>
      <p:sp>
        <p:nvSpPr>
          <p:cNvPr id="5" name="Footer Placeholder 4">
            <a:extLst>
              <a:ext uri="{FF2B5EF4-FFF2-40B4-BE49-F238E27FC236}">
                <a16:creationId xmlns:a16="http://schemas.microsoft.com/office/drawing/2014/main" id="{5B26736E-9FAC-EB04-6138-64B05411775A}"/>
              </a:ext>
            </a:extLst>
          </p:cNvPr>
          <p:cNvSpPr>
            <a:spLocks noGrp="1"/>
          </p:cNvSpPr>
          <p:nvPr>
            <p:ph type="ftr" sz="quarter" idx="11"/>
          </p:nvPr>
        </p:nvSpPr>
        <p:spPr/>
        <p:txBody>
          <a:bodyPr/>
          <a:lstStyle/>
          <a:p>
            <a:r>
              <a:rPr lang="en-US" dirty="0"/>
              <a:t>11</a:t>
            </a:r>
          </a:p>
        </p:txBody>
      </p:sp>
      <p:sp>
        <p:nvSpPr>
          <p:cNvPr id="6" name="Slide Number Placeholder 5">
            <a:extLst>
              <a:ext uri="{FF2B5EF4-FFF2-40B4-BE49-F238E27FC236}">
                <a16:creationId xmlns:a16="http://schemas.microsoft.com/office/drawing/2014/main" id="{7F9A155A-89D3-4DE7-FF62-CFF2249AFBF1}"/>
              </a:ext>
            </a:extLst>
          </p:cNvPr>
          <p:cNvSpPr>
            <a:spLocks noGrp="1"/>
          </p:cNvSpPr>
          <p:nvPr>
            <p:ph type="sldNum" sz="quarter" idx="12"/>
          </p:nvPr>
        </p:nvSpPr>
        <p:spPr/>
        <p:txBody>
          <a:bodyPr/>
          <a:lstStyle/>
          <a:p>
            <a:fld id="{294A09A9-5501-47C1-A89A-A340965A2BE2}" type="slidenum">
              <a:rPr lang="en-US" smtClean="0"/>
              <a:t>11</a:t>
            </a:fld>
            <a:endParaRPr lang="en-US" dirty="0"/>
          </a:p>
        </p:txBody>
      </p:sp>
    </p:spTree>
    <p:extLst>
      <p:ext uri="{BB962C8B-B14F-4D97-AF65-F5344CB8AC3E}">
        <p14:creationId xmlns:p14="http://schemas.microsoft.com/office/powerpoint/2010/main" val="427380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243FA-BDFF-1219-3920-F629F1EAA36E}"/>
              </a:ext>
            </a:extLst>
          </p:cNvPr>
          <p:cNvSpPr>
            <a:spLocks noGrp="1"/>
          </p:cNvSpPr>
          <p:nvPr>
            <p:ph type="title"/>
          </p:nvPr>
        </p:nvSpPr>
        <p:spPr/>
        <p:txBody>
          <a:bodyPr/>
          <a:lstStyle/>
          <a:p>
            <a:r>
              <a:rPr lang="en-US" dirty="0"/>
              <a:t>BI-VARIATE ANALYSIS</a:t>
            </a:r>
          </a:p>
        </p:txBody>
      </p:sp>
      <p:pic>
        <p:nvPicPr>
          <p:cNvPr id="8" name="Content Placeholder 7">
            <a:extLst>
              <a:ext uri="{FF2B5EF4-FFF2-40B4-BE49-F238E27FC236}">
                <a16:creationId xmlns:a16="http://schemas.microsoft.com/office/drawing/2014/main" id="{878F9560-1A97-3BB6-8AA2-ACEA099263F5}"/>
              </a:ext>
            </a:extLst>
          </p:cNvPr>
          <p:cNvPicPr>
            <a:picLocks noGrp="1" noChangeAspect="1"/>
          </p:cNvPicPr>
          <p:nvPr>
            <p:ph sz="half" idx="1"/>
          </p:nvPr>
        </p:nvPicPr>
        <p:blipFill>
          <a:blip r:embed="rId2"/>
          <a:stretch>
            <a:fillRect/>
          </a:stretch>
        </p:blipFill>
        <p:spPr>
          <a:xfrm>
            <a:off x="838200" y="2396632"/>
            <a:ext cx="5181600" cy="3209324"/>
          </a:xfrm>
        </p:spPr>
      </p:pic>
      <p:sp>
        <p:nvSpPr>
          <p:cNvPr id="4" name="Content Placeholder 3">
            <a:extLst>
              <a:ext uri="{FF2B5EF4-FFF2-40B4-BE49-F238E27FC236}">
                <a16:creationId xmlns:a16="http://schemas.microsoft.com/office/drawing/2014/main" id="{F9B2EA0D-C440-0F9B-B6FE-D1FBA0ACD692}"/>
              </a:ext>
            </a:extLst>
          </p:cNvPr>
          <p:cNvSpPr>
            <a:spLocks noGrp="1"/>
          </p:cNvSpPr>
          <p:nvPr>
            <p:ph sz="half" idx="2"/>
          </p:nvPr>
        </p:nvSpPr>
        <p:spPr>
          <a:xfrm>
            <a:off x="6925732" y="2167467"/>
            <a:ext cx="4806020" cy="4009496"/>
          </a:xfrm>
        </p:spPr>
        <p:txBody>
          <a:bodyPr/>
          <a:lstStyle/>
          <a:p>
            <a:r>
              <a:rPr lang="en-US" sz="2400" dirty="0"/>
              <a:t>It appears that 3G has the least negative (strongest) signal strength among the observed network types.</a:t>
            </a:r>
          </a:p>
          <a:p>
            <a:r>
              <a:rPr lang="en-US" sz="2400" dirty="0"/>
              <a:t>LTE and 4G have very similar signal strengths, which are slightly weaker (more negative) than 3G.</a:t>
            </a:r>
          </a:p>
          <a:p>
            <a:r>
              <a:rPr lang="en-US" sz="2400" dirty="0"/>
              <a:t>5G has the most negative (weakest) signal strength among the categories.</a:t>
            </a:r>
          </a:p>
          <a:p>
            <a:endParaRPr lang="en-US" dirty="0"/>
          </a:p>
        </p:txBody>
      </p:sp>
      <p:sp>
        <p:nvSpPr>
          <p:cNvPr id="5" name="Footer Placeholder 4">
            <a:extLst>
              <a:ext uri="{FF2B5EF4-FFF2-40B4-BE49-F238E27FC236}">
                <a16:creationId xmlns:a16="http://schemas.microsoft.com/office/drawing/2014/main" id="{2180FC65-CFBC-8F3A-2271-F223BF5BFE60}"/>
              </a:ext>
            </a:extLst>
          </p:cNvPr>
          <p:cNvSpPr>
            <a:spLocks noGrp="1"/>
          </p:cNvSpPr>
          <p:nvPr>
            <p:ph type="ftr" sz="quarter" idx="11"/>
          </p:nvPr>
        </p:nvSpPr>
        <p:spPr/>
        <p:txBody>
          <a:bodyPr/>
          <a:lstStyle/>
          <a:p>
            <a:r>
              <a:rPr lang="en-US" dirty="0"/>
              <a:t>12</a:t>
            </a:r>
          </a:p>
          <a:p>
            <a:endParaRPr lang="en-US" dirty="0"/>
          </a:p>
        </p:txBody>
      </p:sp>
      <p:sp>
        <p:nvSpPr>
          <p:cNvPr id="6" name="Slide Number Placeholder 5">
            <a:extLst>
              <a:ext uri="{FF2B5EF4-FFF2-40B4-BE49-F238E27FC236}">
                <a16:creationId xmlns:a16="http://schemas.microsoft.com/office/drawing/2014/main" id="{43E57245-2EA8-97CF-039F-D2A28283196B}"/>
              </a:ext>
            </a:extLst>
          </p:cNvPr>
          <p:cNvSpPr>
            <a:spLocks noGrp="1"/>
          </p:cNvSpPr>
          <p:nvPr>
            <p:ph type="sldNum" sz="quarter" idx="12"/>
          </p:nvPr>
        </p:nvSpPr>
        <p:spPr/>
        <p:txBody>
          <a:bodyPr/>
          <a:lstStyle/>
          <a:p>
            <a:fld id="{294A09A9-5501-47C1-A89A-A340965A2BE2}" type="slidenum">
              <a:rPr lang="en-US" smtClean="0"/>
              <a:t>12</a:t>
            </a:fld>
            <a:endParaRPr lang="en-US" dirty="0"/>
          </a:p>
        </p:txBody>
      </p:sp>
    </p:spTree>
    <p:extLst>
      <p:ext uri="{BB962C8B-B14F-4D97-AF65-F5344CB8AC3E}">
        <p14:creationId xmlns:p14="http://schemas.microsoft.com/office/powerpoint/2010/main" val="944649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B36C8-6425-4443-AE36-1A594F96FBDE}"/>
              </a:ext>
            </a:extLst>
          </p:cNvPr>
          <p:cNvSpPr>
            <a:spLocks noGrp="1"/>
          </p:cNvSpPr>
          <p:nvPr>
            <p:ph type="title"/>
          </p:nvPr>
        </p:nvSpPr>
        <p:spPr/>
        <p:txBody>
          <a:bodyPr/>
          <a:lstStyle/>
          <a:p>
            <a:r>
              <a:rPr lang="en-US" dirty="0"/>
              <a:t>NETWORK TYPE VS THROUGHPUT</a:t>
            </a:r>
          </a:p>
        </p:txBody>
      </p:sp>
      <p:pic>
        <p:nvPicPr>
          <p:cNvPr id="8" name="Content Placeholder 7">
            <a:extLst>
              <a:ext uri="{FF2B5EF4-FFF2-40B4-BE49-F238E27FC236}">
                <a16:creationId xmlns:a16="http://schemas.microsoft.com/office/drawing/2014/main" id="{7A1E425A-63F1-9484-A40B-BCEC4E116D9B}"/>
              </a:ext>
            </a:extLst>
          </p:cNvPr>
          <p:cNvPicPr>
            <a:picLocks noGrp="1" noChangeAspect="1"/>
          </p:cNvPicPr>
          <p:nvPr>
            <p:ph sz="half" idx="1"/>
          </p:nvPr>
        </p:nvPicPr>
        <p:blipFill>
          <a:blip r:embed="rId2"/>
          <a:stretch>
            <a:fillRect/>
          </a:stretch>
        </p:blipFill>
        <p:spPr>
          <a:xfrm>
            <a:off x="838200" y="2011679"/>
            <a:ext cx="5511800" cy="3924829"/>
          </a:xfrm>
        </p:spPr>
      </p:pic>
      <p:sp>
        <p:nvSpPr>
          <p:cNvPr id="4" name="Content Placeholder 3">
            <a:extLst>
              <a:ext uri="{FF2B5EF4-FFF2-40B4-BE49-F238E27FC236}">
                <a16:creationId xmlns:a16="http://schemas.microsoft.com/office/drawing/2014/main" id="{C390FC8A-6056-70CE-2D9C-318A33980C54}"/>
              </a:ext>
            </a:extLst>
          </p:cNvPr>
          <p:cNvSpPr>
            <a:spLocks noGrp="1"/>
          </p:cNvSpPr>
          <p:nvPr>
            <p:ph sz="half" idx="2"/>
          </p:nvPr>
        </p:nvSpPr>
        <p:spPr>
          <a:xfrm>
            <a:off x="6722533" y="2252133"/>
            <a:ext cx="5009219" cy="3924829"/>
          </a:xfrm>
        </p:spPr>
        <p:txBody>
          <a:bodyPr/>
          <a:lstStyle/>
          <a:p>
            <a:r>
              <a:rPr lang="en-US" sz="2400" dirty="0"/>
              <a:t>5G demonstrates vastly superior Data Throughput compared to all other network types. It is an order of magnitude higher than 4G, and significantly higher than 3G and LTE.</a:t>
            </a:r>
          </a:p>
          <a:p>
            <a:r>
              <a:rPr lang="en-US" sz="2400" dirty="0"/>
              <a:t>There's a clear descending trend in Data Throughput from 5G to 4G, then to 3G, and finally to LTE.</a:t>
            </a:r>
          </a:p>
          <a:p>
            <a:endParaRPr lang="en-US" dirty="0"/>
          </a:p>
        </p:txBody>
      </p:sp>
      <p:sp>
        <p:nvSpPr>
          <p:cNvPr id="5" name="Footer Placeholder 4">
            <a:extLst>
              <a:ext uri="{FF2B5EF4-FFF2-40B4-BE49-F238E27FC236}">
                <a16:creationId xmlns:a16="http://schemas.microsoft.com/office/drawing/2014/main" id="{F9FC1524-3495-5B5D-AE10-97BF707C036E}"/>
              </a:ext>
            </a:extLst>
          </p:cNvPr>
          <p:cNvSpPr>
            <a:spLocks noGrp="1"/>
          </p:cNvSpPr>
          <p:nvPr>
            <p:ph type="ftr" sz="quarter" idx="11"/>
          </p:nvPr>
        </p:nvSpPr>
        <p:spPr/>
        <p:txBody>
          <a:bodyPr/>
          <a:lstStyle/>
          <a:p>
            <a:r>
              <a:rPr lang="en-US" dirty="0"/>
              <a:t>13</a:t>
            </a:r>
          </a:p>
        </p:txBody>
      </p:sp>
      <p:sp>
        <p:nvSpPr>
          <p:cNvPr id="6" name="Slide Number Placeholder 5">
            <a:extLst>
              <a:ext uri="{FF2B5EF4-FFF2-40B4-BE49-F238E27FC236}">
                <a16:creationId xmlns:a16="http://schemas.microsoft.com/office/drawing/2014/main" id="{4CB91780-461A-D4E8-AEE1-C1626BA014AA}"/>
              </a:ext>
            </a:extLst>
          </p:cNvPr>
          <p:cNvSpPr>
            <a:spLocks noGrp="1"/>
          </p:cNvSpPr>
          <p:nvPr>
            <p:ph type="sldNum" sz="quarter" idx="12"/>
          </p:nvPr>
        </p:nvSpPr>
        <p:spPr/>
        <p:txBody>
          <a:bodyPr/>
          <a:lstStyle/>
          <a:p>
            <a:fld id="{294A09A9-5501-47C1-A89A-A340965A2BE2}" type="slidenum">
              <a:rPr lang="en-US" smtClean="0"/>
              <a:t>13</a:t>
            </a:fld>
            <a:endParaRPr lang="en-US" dirty="0"/>
          </a:p>
        </p:txBody>
      </p:sp>
    </p:spTree>
    <p:extLst>
      <p:ext uri="{BB962C8B-B14F-4D97-AF65-F5344CB8AC3E}">
        <p14:creationId xmlns:p14="http://schemas.microsoft.com/office/powerpoint/2010/main" val="2009751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31000"/>
                    </a14:imgEffect>
                    <a14:imgEffect>
                      <a14:brightnessContrast bright="6000" contrast="2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CF8A4-93A1-FF25-8C70-A2A1C661113D}"/>
              </a:ext>
            </a:extLst>
          </p:cNvPr>
          <p:cNvSpPr>
            <a:spLocks noGrp="1"/>
          </p:cNvSpPr>
          <p:nvPr>
            <p:ph type="title"/>
          </p:nvPr>
        </p:nvSpPr>
        <p:spPr/>
        <p:txBody>
          <a:bodyPr/>
          <a:lstStyle/>
          <a:p>
            <a:r>
              <a:rPr lang="en-US" dirty="0"/>
              <a:t>MULTI-VARIATE ANALYSIS</a:t>
            </a:r>
          </a:p>
        </p:txBody>
      </p:sp>
      <p:pic>
        <p:nvPicPr>
          <p:cNvPr id="8" name="Content Placeholder 7">
            <a:extLst>
              <a:ext uri="{FF2B5EF4-FFF2-40B4-BE49-F238E27FC236}">
                <a16:creationId xmlns:a16="http://schemas.microsoft.com/office/drawing/2014/main" id="{9EBD243F-F76C-2E89-2615-AF34C7995414}"/>
              </a:ext>
            </a:extLst>
          </p:cNvPr>
          <p:cNvPicPr>
            <a:picLocks noGrp="1" noChangeAspect="1"/>
          </p:cNvPicPr>
          <p:nvPr>
            <p:ph sz="half" idx="1"/>
          </p:nvPr>
        </p:nvPicPr>
        <p:blipFill>
          <a:blip r:embed="rId4"/>
          <a:stretch>
            <a:fillRect/>
          </a:stretch>
        </p:blipFill>
        <p:spPr>
          <a:xfrm>
            <a:off x="1022705" y="1825625"/>
            <a:ext cx="4812590" cy="4351338"/>
          </a:xfrm>
        </p:spPr>
      </p:pic>
      <p:sp>
        <p:nvSpPr>
          <p:cNvPr id="4" name="Content Placeholder 3">
            <a:extLst>
              <a:ext uri="{FF2B5EF4-FFF2-40B4-BE49-F238E27FC236}">
                <a16:creationId xmlns:a16="http://schemas.microsoft.com/office/drawing/2014/main" id="{A66291F2-E20E-0D9F-CE5A-E08B850C8B52}"/>
              </a:ext>
            </a:extLst>
          </p:cNvPr>
          <p:cNvSpPr>
            <a:spLocks noGrp="1"/>
          </p:cNvSpPr>
          <p:nvPr>
            <p:ph sz="half" idx="2"/>
          </p:nvPr>
        </p:nvSpPr>
        <p:spPr>
          <a:xfrm>
            <a:off x="6874932" y="1825625"/>
            <a:ext cx="4478867" cy="4351338"/>
          </a:xfrm>
        </p:spPr>
        <p:txBody>
          <a:bodyPr/>
          <a:lstStyle/>
          <a:p>
            <a:r>
              <a:rPr lang="en-US" dirty="0"/>
              <a:t> </a:t>
            </a:r>
            <a:r>
              <a:rPr lang="en-US" sz="1800" dirty="0"/>
              <a:t>Signal Strength vs. Latency: There is a strong positive correlation of 0.50 between signal strength_(Dbm) and latency_(ms). </a:t>
            </a:r>
          </a:p>
          <a:p>
            <a:r>
              <a:rPr lang="en-US" sz="1800" dirty="0"/>
              <a:t> Signal Strength vs. Data Throughput: There is a strong negative correlation of -0.48 between signal strength_(Dbm) and data throughput_(mbps). This is also counter-intuitive: it suggests that as signal strength increases, data throughput decreases. </a:t>
            </a:r>
          </a:p>
          <a:p>
            <a:r>
              <a:rPr lang="en-US" sz="1800" dirty="0"/>
              <a:t>Throughput vs. Latency: There is a strong negative correlation of -0.67 between data throughput_(mbps) and latency_(ms). This is an expected and logical correlation: as data throughput increases, latency decreases. </a:t>
            </a:r>
            <a:br>
              <a:rPr lang="en-US" dirty="0"/>
            </a:br>
            <a:endParaRPr lang="en-US" dirty="0"/>
          </a:p>
          <a:p>
            <a:endParaRPr lang="en-US" dirty="0"/>
          </a:p>
        </p:txBody>
      </p:sp>
      <p:sp>
        <p:nvSpPr>
          <p:cNvPr id="5" name="Footer Placeholder 4">
            <a:extLst>
              <a:ext uri="{FF2B5EF4-FFF2-40B4-BE49-F238E27FC236}">
                <a16:creationId xmlns:a16="http://schemas.microsoft.com/office/drawing/2014/main" id="{067AD19B-7119-E0C1-4349-F621AAB636FA}"/>
              </a:ext>
            </a:extLst>
          </p:cNvPr>
          <p:cNvSpPr>
            <a:spLocks noGrp="1"/>
          </p:cNvSpPr>
          <p:nvPr>
            <p:ph type="ftr" sz="quarter" idx="11"/>
          </p:nvPr>
        </p:nvSpPr>
        <p:spPr/>
        <p:txBody>
          <a:bodyPr/>
          <a:lstStyle/>
          <a:p>
            <a:r>
              <a:rPr lang="en-US" dirty="0"/>
              <a:t>14</a:t>
            </a:r>
          </a:p>
        </p:txBody>
      </p:sp>
      <p:sp>
        <p:nvSpPr>
          <p:cNvPr id="6" name="Slide Number Placeholder 5">
            <a:extLst>
              <a:ext uri="{FF2B5EF4-FFF2-40B4-BE49-F238E27FC236}">
                <a16:creationId xmlns:a16="http://schemas.microsoft.com/office/drawing/2014/main" id="{48D34F57-E31A-351E-682C-D3753A1C2EAE}"/>
              </a:ext>
            </a:extLst>
          </p:cNvPr>
          <p:cNvSpPr>
            <a:spLocks noGrp="1"/>
          </p:cNvSpPr>
          <p:nvPr>
            <p:ph type="sldNum" sz="quarter" idx="12"/>
          </p:nvPr>
        </p:nvSpPr>
        <p:spPr/>
        <p:txBody>
          <a:bodyPr/>
          <a:lstStyle/>
          <a:p>
            <a:fld id="{294A09A9-5501-47C1-A89A-A340965A2BE2}" type="slidenum">
              <a:rPr lang="en-US" smtClean="0"/>
              <a:t>14</a:t>
            </a:fld>
            <a:endParaRPr lang="en-US" dirty="0"/>
          </a:p>
        </p:txBody>
      </p:sp>
    </p:spTree>
    <p:extLst>
      <p:ext uri="{BB962C8B-B14F-4D97-AF65-F5344CB8AC3E}">
        <p14:creationId xmlns:p14="http://schemas.microsoft.com/office/powerpoint/2010/main" val="1643714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A4327E9-3D8B-C63D-BFF4-3314050AF0EB}"/>
              </a:ext>
            </a:extLst>
          </p:cNvPr>
          <p:cNvSpPr>
            <a:spLocks noGrp="1"/>
          </p:cNvSpPr>
          <p:nvPr>
            <p:ph type="title"/>
          </p:nvPr>
        </p:nvSpPr>
        <p:spPr/>
        <p:txBody>
          <a:bodyPr/>
          <a:lstStyle/>
          <a:p>
            <a:r>
              <a:rPr lang="en-US" dirty="0"/>
              <a:t>MODELING</a:t>
            </a:r>
          </a:p>
        </p:txBody>
      </p:sp>
      <p:sp>
        <p:nvSpPr>
          <p:cNvPr id="8" name="Content Placeholder 7">
            <a:extLst>
              <a:ext uri="{FF2B5EF4-FFF2-40B4-BE49-F238E27FC236}">
                <a16:creationId xmlns:a16="http://schemas.microsoft.com/office/drawing/2014/main" id="{BAFFD494-1C51-45DB-028E-B34EC2AF7807}"/>
              </a:ext>
            </a:extLst>
          </p:cNvPr>
          <p:cNvSpPr>
            <a:spLocks noGrp="1"/>
          </p:cNvSpPr>
          <p:nvPr>
            <p:ph idx="1"/>
          </p:nvPr>
        </p:nvSpPr>
        <p:spPr/>
        <p:txBody>
          <a:bodyPr/>
          <a:lstStyle/>
          <a:p>
            <a:r>
              <a:rPr lang="en-US" b="1" dirty="0"/>
              <a:t>REGRESSION</a:t>
            </a:r>
            <a:r>
              <a:rPr lang="en-US" dirty="0"/>
              <a:t>: Linear Regression, Random Forest Regressor, XGBoost Regressor</a:t>
            </a:r>
          </a:p>
          <a:p>
            <a:endParaRPr lang="en-US" dirty="0"/>
          </a:p>
          <a:p>
            <a:r>
              <a:rPr lang="en-US" b="1" dirty="0"/>
              <a:t>CLASSIFICATION: </a:t>
            </a:r>
            <a:r>
              <a:rPr lang="en-US" dirty="0"/>
              <a:t>Random Forest Classifier</a:t>
            </a:r>
            <a:endParaRPr lang="en-US" b="1" dirty="0"/>
          </a:p>
        </p:txBody>
      </p:sp>
      <p:sp>
        <p:nvSpPr>
          <p:cNvPr id="6" name="Slide Number Placeholder 5">
            <a:extLst>
              <a:ext uri="{FF2B5EF4-FFF2-40B4-BE49-F238E27FC236}">
                <a16:creationId xmlns:a16="http://schemas.microsoft.com/office/drawing/2014/main" id="{D770DAA5-A3E1-6245-9E5C-B0B62E808BD2}"/>
              </a:ext>
            </a:extLst>
          </p:cNvPr>
          <p:cNvSpPr>
            <a:spLocks noGrp="1"/>
          </p:cNvSpPr>
          <p:nvPr>
            <p:ph type="sldNum" sz="quarter" idx="11"/>
          </p:nvPr>
        </p:nvSpPr>
        <p:spPr/>
        <p:txBody>
          <a:bodyPr/>
          <a:lstStyle/>
          <a:p>
            <a:fld id="{294A09A9-5501-47C1-A89A-A340965A2BE2}" type="slidenum">
              <a:rPr lang="en-US" smtClean="0"/>
              <a:t>15</a:t>
            </a:fld>
            <a:endParaRPr lang="en-US" dirty="0"/>
          </a:p>
        </p:txBody>
      </p:sp>
      <p:sp>
        <p:nvSpPr>
          <p:cNvPr id="5" name="Footer Placeholder 4">
            <a:extLst>
              <a:ext uri="{FF2B5EF4-FFF2-40B4-BE49-F238E27FC236}">
                <a16:creationId xmlns:a16="http://schemas.microsoft.com/office/drawing/2014/main" id="{DC389008-5A1B-84D7-1F3B-4339D037669D}"/>
              </a:ext>
            </a:extLst>
          </p:cNvPr>
          <p:cNvSpPr>
            <a:spLocks noGrp="1"/>
          </p:cNvSpPr>
          <p:nvPr>
            <p:ph type="ftr" sz="quarter" idx="10"/>
          </p:nvPr>
        </p:nvSpPr>
        <p:spPr>
          <a:xfrm>
            <a:off x="329184" y="6172200"/>
            <a:ext cx="2331720" cy="274320"/>
          </a:xfrm>
        </p:spPr>
        <p:txBody>
          <a:bodyPr/>
          <a:lstStyle/>
          <a:p>
            <a:r>
              <a:rPr lang="en-US" dirty="0"/>
              <a:t>  15</a:t>
            </a:r>
          </a:p>
        </p:txBody>
      </p:sp>
    </p:spTree>
    <p:extLst>
      <p:ext uri="{BB962C8B-B14F-4D97-AF65-F5344CB8AC3E}">
        <p14:creationId xmlns:p14="http://schemas.microsoft.com/office/powerpoint/2010/main" val="26829753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C4B95-9515-9A0C-5C1C-3335C27EDBDC}"/>
              </a:ext>
            </a:extLst>
          </p:cNvPr>
          <p:cNvSpPr>
            <a:spLocks noGrp="1"/>
          </p:cNvSpPr>
          <p:nvPr>
            <p:ph type="title"/>
          </p:nvPr>
        </p:nvSpPr>
        <p:spPr>
          <a:xfrm>
            <a:off x="981456" y="928116"/>
            <a:ext cx="10881360" cy="1069848"/>
          </a:xfrm>
        </p:spPr>
        <p:txBody>
          <a:bodyPr/>
          <a:lstStyle/>
          <a:p>
            <a:r>
              <a:rPr lang="en-US" dirty="0"/>
              <a:t>EVALUATION</a:t>
            </a:r>
          </a:p>
        </p:txBody>
      </p:sp>
      <p:graphicFrame>
        <p:nvGraphicFramePr>
          <p:cNvPr id="6" name="Content Placeholder 5">
            <a:extLst>
              <a:ext uri="{FF2B5EF4-FFF2-40B4-BE49-F238E27FC236}">
                <a16:creationId xmlns:a16="http://schemas.microsoft.com/office/drawing/2014/main" id="{8063D7B8-6D09-B9C9-6033-C0F272AF9453}"/>
              </a:ext>
            </a:extLst>
          </p:cNvPr>
          <p:cNvGraphicFramePr>
            <a:graphicFrameLocks noGrp="1"/>
          </p:cNvGraphicFramePr>
          <p:nvPr>
            <p:ph idx="1"/>
            <p:extLst>
              <p:ext uri="{D42A27DB-BD31-4B8C-83A1-F6EECF244321}">
                <p14:modId xmlns:p14="http://schemas.microsoft.com/office/powerpoint/2010/main" val="3039357789"/>
              </p:ext>
            </p:extLst>
          </p:nvPr>
        </p:nvGraphicFramePr>
        <p:xfrm>
          <a:off x="1014413" y="2212975"/>
          <a:ext cx="10333037" cy="3548063"/>
        </p:xfrm>
        <a:graphic>
          <a:graphicData uri="http://schemas.openxmlformats.org/drawingml/2006/table">
            <a:tbl>
              <a:tblPr firstRow="1" bandRow="1">
                <a:tableStyleId>{073A0DAA-6AF3-43AB-8588-CEC1D06C72B9}</a:tableStyleId>
              </a:tblPr>
              <a:tblGrid>
                <a:gridCol w="2583259">
                  <a:extLst>
                    <a:ext uri="{9D8B030D-6E8A-4147-A177-3AD203B41FA5}">
                      <a16:colId xmlns:a16="http://schemas.microsoft.com/office/drawing/2014/main" val="3478056165"/>
                    </a:ext>
                  </a:extLst>
                </a:gridCol>
                <a:gridCol w="2583259">
                  <a:extLst>
                    <a:ext uri="{9D8B030D-6E8A-4147-A177-3AD203B41FA5}">
                      <a16:colId xmlns:a16="http://schemas.microsoft.com/office/drawing/2014/main" val="2197279351"/>
                    </a:ext>
                  </a:extLst>
                </a:gridCol>
                <a:gridCol w="2583259">
                  <a:extLst>
                    <a:ext uri="{9D8B030D-6E8A-4147-A177-3AD203B41FA5}">
                      <a16:colId xmlns:a16="http://schemas.microsoft.com/office/drawing/2014/main" val="445758429"/>
                    </a:ext>
                  </a:extLst>
                </a:gridCol>
                <a:gridCol w="2583259">
                  <a:extLst>
                    <a:ext uri="{9D8B030D-6E8A-4147-A177-3AD203B41FA5}">
                      <a16:colId xmlns:a16="http://schemas.microsoft.com/office/drawing/2014/main" val="1380733111"/>
                    </a:ext>
                  </a:extLst>
                </a:gridCol>
              </a:tblGrid>
              <a:tr h="370840">
                <a:tc>
                  <a:txBody>
                    <a:bodyPr/>
                    <a:lstStyle/>
                    <a:p>
                      <a:r>
                        <a:rPr lang="en-US" dirty="0"/>
                        <a:t>METRIC</a:t>
                      </a:r>
                    </a:p>
                  </a:txBody>
                  <a:tcPr/>
                </a:tc>
                <a:tc>
                  <a:txBody>
                    <a:bodyPr/>
                    <a:lstStyle/>
                    <a:p>
                      <a:r>
                        <a:rPr lang="en-US" dirty="0"/>
                        <a:t>RANDOM FOREST REGRESSOR</a:t>
                      </a:r>
                    </a:p>
                  </a:txBody>
                  <a:tcPr/>
                </a:tc>
                <a:tc>
                  <a:txBody>
                    <a:bodyPr/>
                    <a:lstStyle/>
                    <a:p>
                      <a:r>
                        <a:rPr lang="en-US" dirty="0"/>
                        <a:t>XGBOOST REGRESSOR</a:t>
                      </a:r>
                    </a:p>
                  </a:txBody>
                  <a:tcPr/>
                </a:tc>
                <a:tc>
                  <a:txBody>
                    <a:bodyPr/>
                    <a:lstStyle/>
                    <a:p>
                      <a:r>
                        <a:rPr lang="en-US" dirty="0"/>
                        <a:t>BEST PERFORMANCE</a:t>
                      </a:r>
                    </a:p>
                  </a:txBody>
                  <a:tcPr/>
                </a:tc>
                <a:extLst>
                  <a:ext uri="{0D108BD9-81ED-4DB2-BD59-A6C34878D82A}">
                    <a16:rowId xmlns:a16="http://schemas.microsoft.com/office/drawing/2014/main" val="3592700100"/>
                  </a:ext>
                </a:extLst>
              </a:tr>
              <a:tr h="370840">
                <a:tc>
                  <a:txBody>
                    <a:bodyPr/>
                    <a:lstStyle/>
                    <a:p>
                      <a:r>
                        <a:rPr lang="en-US" dirty="0"/>
                        <a:t>R-Squared</a:t>
                      </a:r>
                    </a:p>
                  </a:txBody>
                  <a:tcPr/>
                </a:tc>
                <a:tc>
                  <a:txBody>
                    <a:bodyPr/>
                    <a:lstStyle/>
                    <a:p>
                      <a:r>
                        <a:rPr lang="en-US" dirty="0"/>
                        <a:t>89.4%</a:t>
                      </a:r>
                    </a:p>
                  </a:txBody>
                  <a:tcPr/>
                </a:tc>
                <a:tc>
                  <a:txBody>
                    <a:bodyPr/>
                    <a:lstStyle/>
                    <a:p>
                      <a:r>
                        <a:rPr lang="en-US" dirty="0"/>
                        <a:t>89.3%</a:t>
                      </a:r>
                    </a:p>
                  </a:txBody>
                  <a:tcPr/>
                </a:tc>
                <a:tc>
                  <a:txBody>
                    <a:bodyPr/>
                    <a:lstStyle/>
                    <a:p>
                      <a:r>
                        <a:rPr lang="en-US" dirty="0"/>
                        <a:t>Random Forest</a:t>
                      </a:r>
                    </a:p>
                  </a:txBody>
                  <a:tcPr/>
                </a:tc>
                <a:extLst>
                  <a:ext uri="{0D108BD9-81ED-4DB2-BD59-A6C34878D82A}">
                    <a16:rowId xmlns:a16="http://schemas.microsoft.com/office/drawing/2014/main" val="914215819"/>
                  </a:ext>
                </a:extLst>
              </a:tr>
              <a:tr h="370840">
                <a:tc>
                  <a:txBody>
                    <a:bodyPr/>
                    <a:lstStyle/>
                    <a:p>
                      <a:r>
                        <a:rPr lang="en-US" dirty="0"/>
                        <a:t>MAE</a:t>
                      </a:r>
                    </a:p>
                  </a:txBody>
                  <a:tcPr/>
                </a:tc>
                <a:tc>
                  <a:txBody>
                    <a:bodyPr/>
                    <a:lstStyle/>
                    <a:p>
                      <a:r>
                        <a:rPr lang="en-US" dirty="0"/>
                        <a:t>1.18%</a:t>
                      </a:r>
                    </a:p>
                  </a:txBody>
                  <a:tcPr/>
                </a:tc>
                <a:tc>
                  <a:txBody>
                    <a:bodyPr/>
                    <a:lstStyle/>
                    <a:p>
                      <a:r>
                        <a:rPr lang="en-US" dirty="0"/>
                        <a:t>1.21%</a:t>
                      </a:r>
                    </a:p>
                  </a:txBody>
                  <a:tcPr/>
                </a:tc>
                <a:tc>
                  <a:txBody>
                    <a:bodyPr/>
                    <a:lstStyle/>
                    <a:p>
                      <a:r>
                        <a:rPr lang="en-US" dirty="0"/>
                        <a:t>XGBoost</a:t>
                      </a:r>
                    </a:p>
                  </a:txBody>
                  <a:tcPr/>
                </a:tc>
                <a:extLst>
                  <a:ext uri="{0D108BD9-81ED-4DB2-BD59-A6C34878D82A}">
                    <a16:rowId xmlns:a16="http://schemas.microsoft.com/office/drawing/2014/main" val="948265908"/>
                  </a:ext>
                </a:extLst>
              </a:tr>
              <a:tr h="370840">
                <a:tc>
                  <a:txBody>
                    <a:bodyPr/>
                    <a:lstStyle/>
                    <a:p>
                      <a:r>
                        <a:rPr lang="en-US" dirty="0"/>
                        <a:t>RMSE</a:t>
                      </a:r>
                    </a:p>
                  </a:txBody>
                  <a:tcPr/>
                </a:tc>
                <a:tc>
                  <a:txBody>
                    <a:bodyPr/>
                    <a:lstStyle/>
                    <a:p>
                      <a:r>
                        <a:rPr lang="en-US" dirty="0"/>
                        <a:t>1.73%</a:t>
                      </a:r>
                    </a:p>
                  </a:txBody>
                  <a:tcPr/>
                </a:tc>
                <a:tc>
                  <a:txBody>
                    <a:bodyPr/>
                    <a:lstStyle/>
                    <a:p>
                      <a:r>
                        <a:rPr lang="en-US" dirty="0"/>
                        <a:t>1.74%</a:t>
                      </a:r>
                    </a:p>
                  </a:txBody>
                  <a:tcPr/>
                </a:tc>
                <a:tc>
                  <a:txBody>
                    <a:bodyPr/>
                    <a:lstStyle/>
                    <a:p>
                      <a:r>
                        <a:rPr lang="en-US" dirty="0"/>
                        <a:t>XGBoost</a:t>
                      </a:r>
                    </a:p>
                  </a:txBody>
                  <a:tcPr/>
                </a:tc>
                <a:extLst>
                  <a:ext uri="{0D108BD9-81ED-4DB2-BD59-A6C34878D82A}">
                    <a16:rowId xmlns:a16="http://schemas.microsoft.com/office/drawing/2014/main" val="1961628134"/>
                  </a:ext>
                </a:extLst>
              </a:tr>
            </a:tbl>
          </a:graphicData>
        </a:graphic>
      </p:graphicFrame>
      <p:sp>
        <p:nvSpPr>
          <p:cNvPr id="4" name="Slide Number Placeholder 3">
            <a:extLst>
              <a:ext uri="{FF2B5EF4-FFF2-40B4-BE49-F238E27FC236}">
                <a16:creationId xmlns:a16="http://schemas.microsoft.com/office/drawing/2014/main" id="{08AEFE8A-45AD-F74F-5A68-FFE35763F3E5}"/>
              </a:ext>
            </a:extLst>
          </p:cNvPr>
          <p:cNvSpPr>
            <a:spLocks noGrp="1"/>
          </p:cNvSpPr>
          <p:nvPr>
            <p:ph type="sldNum" sz="quarter" idx="11"/>
          </p:nvPr>
        </p:nvSpPr>
        <p:spPr/>
        <p:txBody>
          <a:bodyPr/>
          <a:lstStyle/>
          <a:p>
            <a:fld id="{294A09A9-5501-47C1-A89A-A340965A2BE2}" type="slidenum">
              <a:rPr lang="en-US" smtClean="0"/>
              <a:pPr/>
              <a:t>16</a:t>
            </a:fld>
            <a:endParaRPr lang="en-US" dirty="0"/>
          </a:p>
        </p:txBody>
      </p:sp>
      <p:sp>
        <p:nvSpPr>
          <p:cNvPr id="5" name="Footer Placeholder 4">
            <a:extLst>
              <a:ext uri="{FF2B5EF4-FFF2-40B4-BE49-F238E27FC236}">
                <a16:creationId xmlns:a16="http://schemas.microsoft.com/office/drawing/2014/main" id="{24E3AECB-B742-EC1E-C41A-01C7B459C45D}"/>
              </a:ext>
            </a:extLst>
          </p:cNvPr>
          <p:cNvSpPr>
            <a:spLocks noGrp="1"/>
          </p:cNvSpPr>
          <p:nvPr>
            <p:ph type="ftr" sz="quarter" idx="10"/>
          </p:nvPr>
        </p:nvSpPr>
        <p:spPr/>
        <p:txBody>
          <a:bodyPr/>
          <a:lstStyle/>
          <a:p>
            <a:r>
              <a:rPr lang="en-US" dirty="0"/>
              <a:t>16</a:t>
            </a:r>
          </a:p>
        </p:txBody>
      </p:sp>
      <p:graphicFrame>
        <p:nvGraphicFramePr>
          <p:cNvPr id="8" name="Table 7">
            <a:extLst>
              <a:ext uri="{FF2B5EF4-FFF2-40B4-BE49-F238E27FC236}">
                <a16:creationId xmlns:a16="http://schemas.microsoft.com/office/drawing/2014/main" id="{56BBA929-488E-CD7C-4322-E2211E831C99}"/>
              </a:ext>
            </a:extLst>
          </p:cNvPr>
          <p:cNvGraphicFramePr>
            <a:graphicFrameLocks noGrp="1"/>
          </p:cNvGraphicFramePr>
          <p:nvPr>
            <p:extLst>
              <p:ext uri="{D42A27DB-BD31-4B8C-83A1-F6EECF244321}">
                <p14:modId xmlns:p14="http://schemas.microsoft.com/office/powerpoint/2010/main" val="3325753338"/>
              </p:ext>
            </p:extLst>
          </p:nvPr>
        </p:nvGraphicFramePr>
        <p:xfrm>
          <a:off x="981456" y="4860037"/>
          <a:ext cx="10365993" cy="741680"/>
        </p:xfrm>
        <a:graphic>
          <a:graphicData uri="http://schemas.openxmlformats.org/drawingml/2006/table">
            <a:tbl>
              <a:tblPr firstRow="1" bandRow="1">
                <a:tableStyleId>{073A0DAA-6AF3-43AB-8588-CEC1D06C72B9}</a:tableStyleId>
              </a:tblPr>
              <a:tblGrid>
                <a:gridCol w="3455331">
                  <a:extLst>
                    <a:ext uri="{9D8B030D-6E8A-4147-A177-3AD203B41FA5}">
                      <a16:colId xmlns:a16="http://schemas.microsoft.com/office/drawing/2014/main" val="772549124"/>
                    </a:ext>
                  </a:extLst>
                </a:gridCol>
                <a:gridCol w="3455331">
                  <a:extLst>
                    <a:ext uri="{9D8B030D-6E8A-4147-A177-3AD203B41FA5}">
                      <a16:colId xmlns:a16="http://schemas.microsoft.com/office/drawing/2014/main" val="3601126764"/>
                    </a:ext>
                  </a:extLst>
                </a:gridCol>
                <a:gridCol w="3455331">
                  <a:extLst>
                    <a:ext uri="{9D8B030D-6E8A-4147-A177-3AD203B41FA5}">
                      <a16:colId xmlns:a16="http://schemas.microsoft.com/office/drawing/2014/main" val="3409902989"/>
                    </a:ext>
                  </a:extLst>
                </a:gridCol>
              </a:tblGrid>
              <a:tr h="370840">
                <a:tc>
                  <a:txBody>
                    <a:bodyPr/>
                    <a:lstStyle/>
                    <a:p>
                      <a:r>
                        <a:rPr lang="en-US" dirty="0"/>
                        <a:t>METRIC</a:t>
                      </a:r>
                    </a:p>
                  </a:txBody>
                  <a:tcPr/>
                </a:tc>
                <a:tc>
                  <a:txBody>
                    <a:bodyPr/>
                    <a:lstStyle/>
                    <a:p>
                      <a:r>
                        <a:rPr lang="en-US" dirty="0"/>
                        <a:t>ACCURACY</a:t>
                      </a:r>
                    </a:p>
                  </a:txBody>
                  <a:tcPr/>
                </a:tc>
                <a:tc>
                  <a:txBody>
                    <a:bodyPr/>
                    <a:lstStyle/>
                    <a:p>
                      <a:r>
                        <a:rPr lang="en-US" dirty="0"/>
                        <a:t>F1-SCORE</a:t>
                      </a:r>
                    </a:p>
                  </a:txBody>
                  <a:tcPr/>
                </a:tc>
                <a:extLst>
                  <a:ext uri="{0D108BD9-81ED-4DB2-BD59-A6C34878D82A}">
                    <a16:rowId xmlns:a16="http://schemas.microsoft.com/office/drawing/2014/main" val="3399610669"/>
                  </a:ext>
                </a:extLst>
              </a:tr>
              <a:tr h="370840">
                <a:tc>
                  <a:txBody>
                    <a:bodyPr/>
                    <a:lstStyle/>
                    <a:p>
                      <a:r>
                        <a:rPr lang="en-US" dirty="0"/>
                        <a:t>RANDOM FOREST CLASSIFIER</a:t>
                      </a:r>
                    </a:p>
                  </a:txBody>
                  <a:tcPr/>
                </a:tc>
                <a:tc>
                  <a:txBody>
                    <a:bodyPr/>
                    <a:lstStyle/>
                    <a:p>
                      <a:r>
                        <a:rPr lang="en-US" dirty="0"/>
                        <a:t>100%</a:t>
                      </a:r>
                    </a:p>
                  </a:txBody>
                  <a:tcPr/>
                </a:tc>
                <a:tc>
                  <a:txBody>
                    <a:bodyPr/>
                    <a:lstStyle/>
                    <a:p>
                      <a:r>
                        <a:rPr lang="en-US" dirty="0"/>
                        <a:t>100%</a:t>
                      </a:r>
                    </a:p>
                  </a:txBody>
                  <a:tcPr/>
                </a:tc>
                <a:extLst>
                  <a:ext uri="{0D108BD9-81ED-4DB2-BD59-A6C34878D82A}">
                    <a16:rowId xmlns:a16="http://schemas.microsoft.com/office/drawing/2014/main" val="1813549302"/>
                  </a:ext>
                </a:extLst>
              </a:tr>
            </a:tbl>
          </a:graphicData>
        </a:graphic>
      </p:graphicFrame>
    </p:spTree>
    <p:extLst>
      <p:ext uri="{BB962C8B-B14F-4D97-AF65-F5344CB8AC3E}">
        <p14:creationId xmlns:p14="http://schemas.microsoft.com/office/powerpoint/2010/main" val="3446451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A05D-55E4-943A-C7AF-D1F8BD45B104}"/>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B73F364-DD92-4505-AED3-65A5229A1CE0}"/>
              </a:ext>
            </a:extLst>
          </p:cNvPr>
          <p:cNvSpPr>
            <a:spLocks noGrp="1"/>
          </p:cNvSpPr>
          <p:nvPr>
            <p:ph idx="1"/>
          </p:nvPr>
        </p:nvSpPr>
        <p:spPr/>
        <p:txBody>
          <a:bodyPr/>
          <a:lstStyle/>
          <a:p>
            <a:r>
              <a:rPr lang="en-US" sz="2400" dirty="0"/>
              <a:t>Nearly equal distribution across LTE, 4G, 3G, and 5G networks (~25% each).</a:t>
            </a:r>
          </a:p>
          <a:p>
            <a:r>
              <a:rPr lang="en-US" sz="2400" dirty="0"/>
              <a:t>Strongest Signal in 3G, Weakest in 5G</a:t>
            </a:r>
          </a:p>
          <a:p>
            <a:r>
              <a:rPr lang="en-US" sz="2400" dirty="0"/>
              <a:t>Superior Throughput in 5G</a:t>
            </a:r>
          </a:p>
          <a:p>
            <a:r>
              <a:rPr lang="en-US" sz="2400" dirty="0"/>
              <a:t>XGBoost for Signal Strength Prediction</a:t>
            </a:r>
          </a:p>
          <a:p>
            <a:r>
              <a:rPr lang="en-US" sz="2400" dirty="0"/>
              <a:t>Exceptional Throughput Prediction Performance</a:t>
            </a:r>
          </a:p>
          <a:p>
            <a:r>
              <a:rPr lang="en-US" sz="2400" dirty="0"/>
              <a:t>Perfect Classification with Random Forest</a:t>
            </a:r>
          </a:p>
          <a:p>
            <a:pPr marL="0" indent="0">
              <a:buNone/>
            </a:pPr>
            <a:endParaRPr lang="en-US" dirty="0"/>
          </a:p>
        </p:txBody>
      </p:sp>
      <p:sp>
        <p:nvSpPr>
          <p:cNvPr id="4" name="Slide Number Placeholder 3">
            <a:extLst>
              <a:ext uri="{FF2B5EF4-FFF2-40B4-BE49-F238E27FC236}">
                <a16:creationId xmlns:a16="http://schemas.microsoft.com/office/drawing/2014/main" id="{BC8BEE46-4246-E772-40B4-934283A56AA2}"/>
              </a:ext>
            </a:extLst>
          </p:cNvPr>
          <p:cNvSpPr>
            <a:spLocks noGrp="1"/>
          </p:cNvSpPr>
          <p:nvPr>
            <p:ph type="sldNum" sz="quarter" idx="11"/>
          </p:nvPr>
        </p:nvSpPr>
        <p:spPr/>
        <p:txBody>
          <a:bodyPr/>
          <a:lstStyle/>
          <a:p>
            <a:fld id="{294A09A9-5501-47C1-A89A-A340965A2BE2}" type="slidenum">
              <a:rPr lang="en-US" smtClean="0"/>
              <a:pPr/>
              <a:t>17</a:t>
            </a:fld>
            <a:endParaRPr lang="en-US" dirty="0"/>
          </a:p>
        </p:txBody>
      </p:sp>
      <p:sp>
        <p:nvSpPr>
          <p:cNvPr id="5" name="Footer Placeholder 4">
            <a:extLst>
              <a:ext uri="{FF2B5EF4-FFF2-40B4-BE49-F238E27FC236}">
                <a16:creationId xmlns:a16="http://schemas.microsoft.com/office/drawing/2014/main" id="{4A6DB331-6475-E2D3-6214-87AC85510321}"/>
              </a:ext>
            </a:extLst>
          </p:cNvPr>
          <p:cNvSpPr>
            <a:spLocks noGrp="1"/>
          </p:cNvSpPr>
          <p:nvPr>
            <p:ph type="ftr" sz="quarter" idx="10"/>
          </p:nvPr>
        </p:nvSpPr>
        <p:spPr/>
        <p:txBody>
          <a:bodyPr/>
          <a:lstStyle/>
          <a:p>
            <a:r>
              <a:rPr lang="en-US" dirty="0"/>
              <a:t>17</a:t>
            </a:r>
          </a:p>
        </p:txBody>
      </p:sp>
    </p:spTree>
    <p:extLst>
      <p:ext uri="{BB962C8B-B14F-4D97-AF65-F5344CB8AC3E}">
        <p14:creationId xmlns:p14="http://schemas.microsoft.com/office/powerpoint/2010/main" val="1482613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5835F-68DD-E61B-A5C1-8FD0AD050888}"/>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DD03A143-4B01-E1F5-F6A1-F6DE81169C28}"/>
              </a:ext>
            </a:extLst>
          </p:cNvPr>
          <p:cNvSpPr>
            <a:spLocks noGrp="1"/>
          </p:cNvSpPr>
          <p:nvPr>
            <p:ph idx="1"/>
          </p:nvPr>
        </p:nvSpPr>
        <p:spPr/>
        <p:txBody>
          <a:bodyPr/>
          <a:lstStyle/>
          <a:p>
            <a:r>
              <a:rPr lang="en-US" sz="2400" dirty="0"/>
              <a:t>Invest in denser 5G infrastructure (e.g., small cells) to address weaker signal strength issues and ensure coverage parity with 3G and LTE.</a:t>
            </a:r>
          </a:p>
          <a:p>
            <a:r>
              <a:rPr lang="en-US" sz="2400" dirty="0"/>
              <a:t>Given their strong signal characteristics, 3G and LTE networks can continue serving areas where 5G infrastructure is sparse or signal penetration is critical.</a:t>
            </a:r>
          </a:p>
          <a:p>
            <a:r>
              <a:rPr lang="en-US" sz="2400" dirty="0"/>
              <a:t>Due to its high accuracy and generalizability, XGBoost should be integrated into real-time systems for signal strength and throughput forecasting.</a:t>
            </a:r>
          </a:p>
          <a:p>
            <a:r>
              <a:rPr lang="en-US" sz="2400" dirty="0"/>
              <a:t>Continue tracking temporal patterns in signal and throughput to anticipate demand and preemptively manage resources.</a:t>
            </a:r>
          </a:p>
          <a:p>
            <a:endParaRPr lang="en-US" dirty="0"/>
          </a:p>
        </p:txBody>
      </p:sp>
      <p:sp>
        <p:nvSpPr>
          <p:cNvPr id="4" name="Slide Number Placeholder 3">
            <a:extLst>
              <a:ext uri="{FF2B5EF4-FFF2-40B4-BE49-F238E27FC236}">
                <a16:creationId xmlns:a16="http://schemas.microsoft.com/office/drawing/2014/main" id="{D9CDD79E-3A32-9F18-5963-4333E095486B}"/>
              </a:ext>
            </a:extLst>
          </p:cNvPr>
          <p:cNvSpPr>
            <a:spLocks noGrp="1"/>
          </p:cNvSpPr>
          <p:nvPr>
            <p:ph type="sldNum" sz="quarter" idx="11"/>
          </p:nvPr>
        </p:nvSpPr>
        <p:spPr/>
        <p:txBody>
          <a:bodyPr/>
          <a:lstStyle/>
          <a:p>
            <a:fld id="{294A09A9-5501-47C1-A89A-A340965A2BE2}" type="slidenum">
              <a:rPr lang="en-US" smtClean="0"/>
              <a:pPr/>
              <a:t>18</a:t>
            </a:fld>
            <a:endParaRPr lang="en-US" dirty="0"/>
          </a:p>
        </p:txBody>
      </p:sp>
      <p:sp>
        <p:nvSpPr>
          <p:cNvPr id="5" name="Footer Placeholder 4">
            <a:extLst>
              <a:ext uri="{FF2B5EF4-FFF2-40B4-BE49-F238E27FC236}">
                <a16:creationId xmlns:a16="http://schemas.microsoft.com/office/drawing/2014/main" id="{C3E3F97E-9380-BF53-B250-9270063F521F}"/>
              </a:ext>
            </a:extLst>
          </p:cNvPr>
          <p:cNvSpPr>
            <a:spLocks noGrp="1"/>
          </p:cNvSpPr>
          <p:nvPr>
            <p:ph type="ftr" sz="quarter" idx="10"/>
          </p:nvPr>
        </p:nvSpPr>
        <p:spPr/>
        <p:txBody>
          <a:bodyPr/>
          <a:lstStyle/>
          <a:p>
            <a:r>
              <a:rPr lang="en-US" dirty="0"/>
              <a:t>18</a:t>
            </a:r>
          </a:p>
        </p:txBody>
      </p:sp>
    </p:spTree>
    <p:extLst>
      <p:ext uri="{BB962C8B-B14F-4D97-AF65-F5344CB8AC3E}">
        <p14:creationId xmlns:p14="http://schemas.microsoft.com/office/powerpoint/2010/main" val="4161655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892-81E6-551C-7B5A-DEA68224520B}"/>
              </a:ext>
            </a:extLst>
          </p:cNvPr>
          <p:cNvSpPr>
            <a:spLocks noGrp="1"/>
          </p:cNvSpPr>
          <p:nvPr>
            <p:ph type="title"/>
          </p:nvPr>
        </p:nvSpPr>
        <p:spPr/>
        <p:txBody>
          <a:bodyPr/>
          <a:lstStyle/>
          <a:p>
            <a:r>
              <a:rPr lang="en-US" sz="4800" b="1" spc="600" dirty="0">
                <a:ln w="28575">
                  <a:noFill/>
                  <a:prstDash val="solid"/>
                </a:ln>
                <a:solidFill>
                  <a:schemeClr val="bg1"/>
                </a:solidFill>
                <a:latin typeface="Tw Cen MT" panose="020B0602020104020603" pitchFamily="34" charset="77"/>
              </a:rPr>
              <a:t>THANK YOU</a:t>
            </a:r>
            <a:endParaRPr lang="en-US" dirty="0"/>
          </a:p>
        </p:txBody>
      </p:sp>
      <p:sp>
        <p:nvSpPr>
          <p:cNvPr id="3" name="Text Placeholder 2">
            <a:extLst>
              <a:ext uri="{FF2B5EF4-FFF2-40B4-BE49-F238E27FC236}">
                <a16:creationId xmlns:a16="http://schemas.microsoft.com/office/drawing/2014/main" id="{55519D01-29BE-BE76-41C5-9D58AD8119DC}"/>
              </a:ext>
            </a:extLst>
          </p:cNvPr>
          <p:cNvSpPr>
            <a:spLocks noGrp="1"/>
          </p:cNvSpPr>
          <p:nvPr>
            <p:ph type="body" idx="1"/>
          </p:nvPr>
        </p:nvSpPr>
        <p:spPr/>
        <p:txBody>
          <a:bodyPr/>
          <a:lstStyle/>
          <a:p>
            <a:pPr algn="l"/>
            <a:r>
              <a:rPr lang="en-US" dirty="0">
                <a:latin typeface="Segoe UI Light" panose="020B0502040204020203" pitchFamily="34" charset="0"/>
                <a:cs typeface="Segoe UI Light" panose="020B0502040204020203" pitchFamily="34" charset="0"/>
              </a:rPr>
              <a:t>Kenneth Nyangweso</a:t>
            </a:r>
          </a:p>
          <a:p>
            <a:r>
              <a:rPr lang="en-US" dirty="0">
                <a:hlinkClick r:id="rId2"/>
              </a:rPr>
              <a:t>https://github.com/kennethnyangweso/Cellular-Network-Analysis-with-Machine-Learning</a:t>
            </a:r>
            <a:endParaRPr lang="en-US" dirty="0"/>
          </a:p>
          <a:p>
            <a:r>
              <a:rPr lang="en-US" dirty="0"/>
              <a:t>www.linkedin.com/in/kenneth-nyangweso-4b429b242</a:t>
            </a:r>
          </a:p>
        </p:txBody>
      </p:sp>
    </p:spTree>
    <p:extLst>
      <p:ext uri="{BB962C8B-B14F-4D97-AF65-F5344CB8AC3E}">
        <p14:creationId xmlns:p14="http://schemas.microsoft.com/office/powerpoint/2010/main" val="1877701230"/>
      </p:ext>
    </p:extLst>
  </p:cSld>
  <p:clrMapOvr>
    <a:masterClrMapping/>
  </p:clrMapOvr>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F1F1912-3146-44AF-A389-9E8B77BB3688}">
  <ds:schemaRefs>
    <ds:schemaRef ds:uri="http://schemas.microsoft.com/sharepoint/v3/contenttype/forms"/>
  </ds:schemaRefs>
</ds:datastoreItem>
</file>

<file path=customXml/itemProps2.xml><?xml version="1.0" encoding="utf-8"?>
<ds:datastoreItem xmlns:ds="http://schemas.openxmlformats.org/officeDocument/2006/customXml" ds:itemID="{176493A3-2B83-4E58-86AD-56A2F2A20F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8B8ECF1-2A9D-464C-AFE8-2B3295D0BF9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126</TotalTime>
  <Words>820</Words>
  <Application>Microsoft Office PowerPoint</Application>
  <PresentationFormat>Widescreen</PresentationFormat>
  <Paragraphs>126</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Courier New</vt:lpstr>
      <vt:lpstr>Segoe UI Light</vt:lpstr>
      <vt:lpstr>Tw Cen MT</vt:lpstr>
      <vt:lpstr>Office Theme</vt:lpstr>
      <vt:lpstr>CELLULAR NETWORK ANALYSIS WITH MACHINE LEARNING</vt:lpstr>
      <vt:lpstr>CONTENTS</vt:lpstr>
      <vt:lpstr>Business understanding</vt:lpstr>
      <vt:lpstr>WHY NOW?</vt:lpstr>
      <vt:lpstr>OBJECTIVES</vt:lpstr>
      <vt:lpstr>METRICS OF SUCCESS</vt:lpstr>
      <vt:lpstr> DATA UNDERSTANDING</vt:lpstr>
      <vt:lpstr>EXPLORATORY DATA ANALYSIS</vt:lpstr>
      <vt:lpstr>UNI-VARIATE analysis</vt:lpstr>
      <vt:lpstr>THROUGHPUT DISTRIBUTION.</vt:lpstr>
      <vt:lpstr>Network type distribution</vt:lpstr>
      <vt:lpstr>BI-VARIATE ANALYSIS</vt:lpstr>
      <vt:lpstr>NETWORK TYPE VS THROUGHPUT</vt:lpstr>
      <vt:lpstr>MULTI-VARIATE ANALYSIS</vt:lpstr>
      <vt:lpstr>MODELING</vt:lpstr>
      <vt:lpstr>EVALUATION</vt:lpstr>
      <vt:lpstr>CONCLUSION</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Kenneth Nyangweso</dc:creator>
  <cp:lastModifiedBy>Kenneth Nyangweso</cp:lastModifiedBy>
  <cp:revision>2</cp:revision>
  <dcterms:created xsi:type="dcterms:W3CDTF">2025-06-17T12:44:39Z</dcterms:created>
  <dcterms:modified xsi:type="dcterms:W3CDTF">2025-06-17T14:50:46Z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